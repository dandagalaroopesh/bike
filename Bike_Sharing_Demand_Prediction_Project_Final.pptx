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Pearson correlation with cnt</c:v>
          </c:tx>
          <c:spPr>
            <a:solidFill>
              <a:srgbClr val="1C7165"/>
            </a:solidFill>
          </c:spPr>
          <c:invertIfNegative val="0"/>
          <c:cat>
            <c:strLit>
              <c:ptCount val="9"/>
              <c:pt idx="0">
                <c:v>humidity</c:v>
              </c:pt>
              <c:pt idx="1">
                <c:v>holiday</c:v>
              </c:pt>
              <c:pt idx="2">
                <c:v>weekday</c:v>
              </c:pt>
              <c:pt idx="3">
                <c:v>windspeed</c:v>
              </c:pt>
              <c:pt idx="4">
                <c:v>month</c:v>
              </c:pt>
              <c:pt idx="5">
                <c:v>year</c:v>
              </c:pt>
              <c:pt idx="6">
                <c:v>hour</c:v>
              </c:pt>
              <c:pt idx="7">
                <c:v>atemp</c:v>
              </c:pt>
              <c:pt idx="8">
                <c:v>temp</c:v>
              </c:pt>
            </c:strLit>
          </c:cat>
          <c:val>
            <c:numLit>
              <c:formatCode>General</c:formatCode>
              <c:ptCount val="9"/>
              <c:pt idx="0">
                <c:v>-0.32279999999999998</c:v>
              </c:pt>
              <c:pt idx="1">
                <c:v>-3.09E-2</c:v>
              </c:pt>
              <c:pt idx="2">
                <c:v>2.69E-2</c:v>
              </c:pt>
              <c:pt idx="3">
                <c:v>9.3299999999999994E-2</c:v>
              </c:pt>
              <c:pt idx="4">
                <c:v>0.1207</c:v>
              </c:pt>
              <c:pt idx="5">
                <c:v>0.2505</c:v>
              </c:pt>
              <c:pt idx="6">
                <c:v>0.39410000000000001</c:v>
              </c:pt>
              <c:pt idx="7">
                <c:v>0.40089999999999998</c:v>
              </c:pt>
              <c:pt idx="8">
                <c:v>0.40450000000000003</c:v>
              </c:pt>
            </c:numLit>
          </c:val>
          <c:extLst>
            <c:ext xmlns:c16="http://schemas.microsoft.com/office/drawing/2014/chart" uri="{C3380CC4-5D6E-409C-BE32-E72D297353CC}">
              <c16:uniqueId val="{00000000-174F-410B-9CE7-57E110DC31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5EAE6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DFDA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0625E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32D2B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6F7F3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6F7F3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Test RMSE (bikes/hour)</c:v>
          </c:tx>
          <c:spPr>
            <a:solidFill>
              <a:srgbClr val="1C7165"/>
            </a:solidFill>
          </c:spPr>
          <c:invertIfNegative val="0"/>
          <c:dPt>
            <c:idx val="9"/>
            <c:invertIfNegative val="0"/>
            <c:bubble3D val="0"/>
            <c:spPr>
              <a:solidFill>
                <a:srgbClr val="E8794E"/>
              </a:solidFill>
            </c:spPr>
            <c:extLst>
              <c:ext xmlns:c16="http://schemas.microsoft.com/office/drawing/2014/chart" uri="{C3380CC4-5D6E-409C-BE32-E72D297353CC}">
                <c16:uniqueId val="{00000001-D6DC-4ADF-B010-4E862C87BD7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32D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Decision Tree</c:v>
              </c:pt>
              <c:pt idx="1">
                <c:v>Polynomial Regression</c:v>
              </c:pt>
              <c:pt idx="2">
                <c:v>MLP Neural Network</c:v>
              </c:pt>
              <c:pt idx="3">
                <c:v>SVR</c:v>
              </c:pt>
              <c:pt idx="4">
                <c:v>Gradient Boosting</c:v>
              </c:pt>
              <c:pt idx="5">
                <c:v>Extra Trees</c:v>
              </c:pt>
              <c:pt idx="6">
                <c:v>Random Forest</c:v>
              </c:pt>
              <c:pt idx="7">
                <c:v>HistGradient Boosting</c:v>
              </c:pt>
              <c:pt idx="8">
                <c:v>LightGBM</c:v>
              </c:pt>
              <c:pt idx="9">
                <c:v>XGBoost</c:v>
              </c:pt>
            </c:strLit>
          </c:cat>
          <c:val>
            <c:numLit>
              <c:formatCode>General</c:formatCode>
              <c:ptCount val="10"/>
              <c:pt idx="0">
                <c:v>75.481899999999996</c:v>
              </c:pt>
              <c:pt idx="1">
                <c:v>72.397800000000004</c:v>
              </c:pt>
              <c:pt idx="2">
                <c:v>69.755099999999999</c:v>
              </c:pt>
              <c:pt idx="3">
                <c:v>65.838800000000006</c:v>
              </c:pt>
              <c:pt idx="4">
                <c:v>65.3626</c:v>
              </c:pt>
              <c:pt idx="5">
                <c:v>65.150400000000005</c:v>
              </c:pt>
              <c:pt idx="6">
                <c:v>63.8596</c:v>
              </c:pt>
              <c:pt idx="7">
                <c:v>63.641100000000002</c:v>
              </c:pt>
              <c:pt idx="8">
                <c:v>63.488599999999998</c:v>
              </c:pt>
              <c:pt idx="9">
                <c:v>61.519300000000001</c:v>
              </c:pt>
            </c:numLit>
          </c:val>
          <c:extLst>
            <c:ext xmlns:c16="http://schemas.microsoft.com/office/drawing/2014/chart" uri="{C3380CC4-5D6E-409C-BE32-E72D297353CC}">
              <c16:uniqueId val="{00000002-D6DC-4ADF-B010-4E862C87BD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5EAE6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DFDA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0625E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32D2B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6F7F3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6F7F3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Test RMSE (bikes/hour)</c:v>
          </c:tx>
          <c:spPr>
            <a:solidFill>
              <a:srgbClr val="467BA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32D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Passive Aggressive</c:v>
              </c:pt>
              <c:pt idx="1">
                <c:v>SGD Regression</c:v>
              </c:pt>
              <c:pt idx="2">
                <c:v>Huber Regression</c:v>
              </c:pt>
              <c:pt idx="3">
                <c:v>Elastic Net</c:v>
              </c:pt>
              <c:pt idx="4">
                <c:v>Lasso Regression</c:v>
              </c:pt>
              <c:pt idx="5">
                <c:v>Bayesian Ridge</c:v>
              </c:pt>
              <c:pt idx="6">
                <c:v>Linear Regression</c:v>
              </c:pt>
              <c:pt idx="7">
                <c:v>Ridge Regression</c:v>
              </c:pt>
              <c:pt idx="8">
                <c:v>AdaBoost</c:v>
              </c:pt>
              <c:pt idx="9">
                <c:v>KNN Regression</c:v>
              </c:pt>
            </c:strLit>
          </c:cat>
          <c:val>
            <c:numLit>
              <c:formatCode>General</c:formatCode>
              <c:ptCount val="10"/>
              <c:pt idx="0">
                <c:v>147.5976</c:v>
              </c:pt>
              <c:pt idx="1">
                <c:v>135.16759999999999</c:v>
              </c:pt>
              <c:pt idx="2">
                <c:v>133.4974</c:v>
              </c:pt>
              <c:pt idx="3">
                <c:v>132.3125</c:v>
              </c:pt>
              <c:pt idx="4">
                <c:v>132.06120000000001</c:v>
              </c:pt>
              <c:pt idx="5">
                <c:v>131.904</c:v>
              </c:pt>
              <c:pt idx="6">
                <c:v>131.8536</c:v>
              </c:pt>
              <c:pt idx="7">
                <c:v>131.8194</c:v>
              </c:pt>
              <c:pt idx="8">
                <c:v>110.08240000000001</c:v>
              </c:pt>
              <c:pt idx="9">
                <c:v>84.488799999999998</c:v>
              </c:pt>
            </c:numLit>
          </c:val>
          <c:extLst>
            <c:ext xmlns:c16="http://schemas.microsoft.com/office/drawing/2014/chart" uri="{C3380CC4-5D6E-409C-BE32-E72D297353CC}">
              <c16:uniqueId val="{00000000-9891-43E7-87A6-F26AC96E45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5EAE6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DFDA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0625E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32D2B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6F7F3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6F7F3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as an end-to-end hourly bike-demand forecasting workflow. The presentation distinguishes notebook-reported scores from the unresolved chronology issue.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final reported all-model successive-halving result selected XGBoost: RMSE 61.5193, MAE 39.5729, R² 0.9234. These metrics are provisional until date parsing and the holdout window are revalidated.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operational value statements describe intended uses of a demand forecast. The notebook does not quantify staffing, availability or revenue impact.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describes 17,379 rows and 17 columns. The target cnt is total hourly demand; casual and registered are its component counts and must stay out of the predictors.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date conversion output is the central unresolved data-quality problem. The later model split is chronological by row, but its timestamps are not trustworthy while this issue remains.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source plot is a notebook output and is embedded as a figure. Demand peaks are approximate readings from the chart, not forecast results.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Notebook correlations: temp 0.404482, atemp 0.400890, hr 0.394071, yr 0.250454, mnth 0.120658, windspeed 0.093320, weekday 0.026900, holiday -0.030926 and hum -0.322823.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two plots are source figures from the notebook. Month-of-year and workday patterns are grouped by source calendar fields; they do not rely on the parsed date column.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monthly resample plot is included to show the chronology problem, not as a valid business trend. The reported train/test timestamps share the 5 Dec 2012 12:00 boundary, so strict timestamp separation should also be checked.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editable workflow map summarizes the project stages. It is deliberately not a geographic map because the provided data contains no location coordinates or station identifier.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names and interactions reflect the notebook’s engineered and domain-driven feature cells. Some engineered features may be redundant; validation-based feature selection was recommended.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pipelines use ColumnTransformer, median numeric imputation and StandardScaler, plus most-frequent categorical imputation and OneHotEncoder(handle_unknown="ignore"). Tree preprocessing omits scaling.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has an initial 15-model algorithm overview and a later 20-model training and successive-halving benchmark. This list matches the completed benchmark; CatBoost was skipped.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all-model successive-halving test RMSE: XGBoost 61.5193, LightGBM 63.4886, HistGradient Boosting 63.6411, Random Forest 63.8596, Extra Trees 65.1504, Gradient Boosting 65.3626, SVR 65.8388, MLP 69.7551, Polynomial 72.3978, Decision Tree 75.4819.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all-model successive-halving test RMSE: KNN 84.4888, AdaBoost 110.0824, Ridge 131.8194, Linear 131.8536, Bayesian Ridge 131.9040, Lasso 132.0612, Elastic Net 132.3125, Huber 133.4974, SGD 135.1676, Passive Aggressive 147.5976.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Successive-halving final comparison used TimeSeriesSplit with 3 folds across 20 models. Separate experiments used 5 folds on a subset and a second 3-model randomized search, so their results are kept distinct.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XGBoost: CV RMSE 66.9800, Test RMSE 61.5193, Test MAE 39.5729, Test MSE 3784.6260, Test R² 0.9234, MAPE 45.1876%. Metrics are provisional until chronology is corrected.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code saves the model pickle, historical dashboard data, model metadata and prediction log. The app loads these files, constructs model inputs and logs predictions.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Streamlit code has Executive Dashboard and Model Monitoring pages, app controls, dashboard analytics, prediction history and metadata display. The log supports later metric calculation when actual outcomes are supplied.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deployment log shows Python 3.14.9, scikit-learn 1.9.1 and an XGBoost import failure when loading the pickle. The prior troubleshooting recommended adding xgboost, pinning scikit-learn 1.7.2 and selecting Python 3.13; no successful redeploy was recorded.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strongest supported conclusion: the notebook completed broad model comparison and Streamlit implementation, while the current evidence has a chronology caveat that must be resolved before using the reported score operationally.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two limitations are directly evidenced by the notebook date parse and split outputs. Other items are proposed next steps to strengthen generalization, monitoring and spatial utility.</a:t>
            </a:r>
          </a:p>
          <a:p>
            <a:endParaRPr/>
          </a:p>
          <a:p>
            <a:r>
              <a:t>Source: user-provided Bike_Rental.ipynb and Streamlit deployment log from the referenced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B2EE3B-06AF-4EE1-ACC6-F243310B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B02D6F2-4922-46C4-BA43-40B977DD8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7D592B2-1061-424C-880E-E36AF987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B1F27AE-9F9B-4F3F-B88F-A189C2C78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A5D9E4B-5892-4052-BACB-2E1372948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D33AD-5BFA-4DAB-8520-24A505EF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D0FD609-A234-414D-8CDB-CC545BE4B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88A5E11-8601-490E-9982-E2ED1F350D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2B48CFE-9646-411A-8B5E-4D496CC0A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1310A48-DF89-486F-A49B-61537F5CE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6E90F6-5BFD-4D96-B13C-51056CCD4F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133EBB-4AC9-486A-B2FB-64BD520AC177}"/>
              </a:ext>
            </a:extLst>
          </p:cNvPr>
          <p:cNvSpPr>
            <a:spLocks noGrp="1"/>
          </p:cNvSpPr>
          <p:nvPr/>
        </p:nvSpPr>
        <p:spPr>
          <a:xfrm>
            <a:off x="781050" y="1181100"/>
            <a:ext cx="1047750" cy="66675"/>
          </a:xfrm>
          <a:prstGeom prst="rect">
            <a:avLst/>
          </a:prstGeom>
          <a:solidFill>
            <a:srgbClr val="E8794E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E520FA-B9CF-4099-A722-133D6ABD1C23}"/>
              </a:ext>
            </a:extLst>
          </p:cNvPr>
          <p:cNvSpPr>
            <a:spLocks noGrp="1"/>
          </p:cNvSpPr>
          <p:nvPr/>
        </p:nvSpPr>
        <p:spPr>
          <a:xfrm>
            <a:off x="781050" y="1590675"/>
            <a:ext cx="8191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Bike Sharing</a:t>
            </a: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EEED19-787C-4DB7-8982-F7A2F1D01290}"/>
              </a:ext>
            </a:extLst>
          </p:cNvPr>
          <p:cNvSpPr>
            <a:spLocks noGrp="1"/>
          </p:cNvSpPr>
          <p:nvPr/>
        </p:nvSpPr>
        <p:spPr>
          <a:xfrm>
            <a:off x="819150" y="3781425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5E4DE"/>
                </a:solidFill>
                <a:latin typeface="Arial"/>
                <a:ea typeface="Arial"/>
                <a:cs typeface="Arial"/>
              </a:rPr>
              <a:t>End-to-end data science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55EE7-9E12-4528-9532-BA153AB9F8F2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D0C8"/>
                </a:solidFill>
                <a:latin typeface="Arial"/>
                <a:ea typeface="Arial"/>
                <a:cs typeface="Arial"/>
              </a:rPr>
              <a:t>Hourly rentals  |  model evaluation  |  Streamlit deployment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90BF3-A887-41CE-BBCB-30AF8F566281}"/>
              </a:ext>
            </a:extLst>
          </p:cNvPr>
          <p:cNvSpPr>
            <a:spLocks noGrp="1"/>
          </p:cNvSpPr>
          <p:nvPr/>
        </p:nvSpPr>
        <p:spPr>
          <a:xfrm>
            <a:off x="819150" y="60674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B8D0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D0C8"/>
                </a:solidFill>
                <a:latin typeface="Arial"/>
                <a:ea typeface="Arial"/>
                <a:cs typeface="Arial"/>
              </a:rPr>
              <a:t>2011–2012 project records</a:t>
            </a:r>
          </a:p>
        </p:txBody>
      </p:sp>
    </p:spTree>
    <p:extLst>
      <p:ext uri="{BB962C8B-B14F-4D97-AF65-F5344CB8AC3E}">
        <p14:creationId xmlns:p14="http://schemas.microsoft.com/office/powerpoint/2010/main" val="191554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720A0DC-7421-4E39-A5B3-F4BB2DCBC4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Project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5F7F0C-B7FA-4C8F-8013-821E67428E1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212137-E5C2-4C42-9FB0-DF8E1ECF700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F6051-1351-4B8F-866B-0A0DAC3930D6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34"/>
          </a:bodyPr>
          <a:lstStyle>
            <a:def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A full regression workflow moved from hourly rental records to a Streamlit prediction and monitoring interface.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3980A7-B805-4916-B76F-3853A80C85CC}"/>
              </a:ext>
            </a:extLst>
          </p:cNvPr>
          <p:cNvSpPr>
            <a:spLocks noGrp="1"/>
          </p:cNvSpPr>
          <p:nvPr/>
        </p:nvSpPr>
        <p:spPr>
          <a:xfrm>
            <a:off x="838200" y="2428875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17,379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895F30-022A-4527-A7BE-D8AE79F4FDEA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hourly records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51EE9-8581-4B0B-811E-DB3AEE3424A1}"/>
              </a:ext>
            </a:extLst>
          </p:cNvPr>
          <p:cNvSpPr>
            <a:spLocks noGrp="1"/>
          </p:cNvSpPr>
          <p:nvPr/>
        </p:nvSpPr>
        <p:spPr>
          <a:xfrm>
            <a:off x="3181350" y="2400300"/>
            <a:ext cx="9525" cy="8191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B03477-E980-482A-9834-126D77F7DDB5}"/>
              </a:ext>
            </a:extLst>
          </p:cNvPr>
          <p:cNvSpPr>
            <a:spLocks noGrp="1"/>
          </p:cNvSpPr>
          <p:nvPr/>
        </p:nvSpPr>
        <p:spPr>
          <a:xfrm>
            <a:off x="3476625" y="2428875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80AC54-70A7-4042-9A72-CAC704B084B0}"/>
              </a:ext>
            </a:extLst>
          </p:cNvPr>
          <p:cNvSpPr>
            <a:spLocks noGrp="1"/>
          </p:cNvSpPr>
          <p:nvPr/>
        </p:nvSpPr>
        <p:spPr>
          <a:xfrm>
            <a:off x="3476625" y="31051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source variables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42A20-C15E-4E02-BE91-BA65C56BAEC6}"/>
              </a:ext>
            </a:extLst>
          </p:cNvPr>
          <p:cNvSpPr>
            <a:spLocks noGrp="1"/>
          </p:cNvSpPr>
          <p:nvPr/>
        </p:nvSpPr>
        <p:spPr>
          <a:xfrm>
            <a:off x="5819775" y="2400300"/>
            <a:ext cx="9525" cy="8191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7E5810-5A6A-4D63-8B0E-E36E89E4A7F6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4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39EB8-338E-4BE1-828D-470004CFA2F4}"/>
              </a:ext>
            </a:extLst>
          </p:cNvPr>
          <p:cNvSpPr>
            <a:spLocks noGrp="1"/>
          </p:cNvSpPr>
          <p:nvPr/>
        </p:nvSpPr>
        <p:spPr>
          <a:xfrm>
            <a:off x="6115050" y="31051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regression models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1F1361-A359-4EEB-B39A-E0DE7F3477CB}"/>
              </a:ext>
            </a:extLst>
          </p:cNvPr>
          <p:cNvSpPr>
            <a:spLocks noGrp="1"/>
          </p:cNvSpPr>
          <p:nvPr/>
        </p:nvSpPr>
        <p:spPr>
          <a:xfrm>
            <a:off x="8458200" y="2400300"/>
            <a:ext cx="9525" cy="8191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499927-2815-4A2D-B590-E4F8C71981AA}"/>
              </a:ext>
            </a:extLst>
          </p:cNvPr>
          <p:cNvSpPr>
            <a:spLocks noGrp="1"/>
          </p:cNvSpPr>
          <p:nvPr/>
        </p:nvSpPr>
        <p:spPr>
          <a:xfrm>
            <a:off x="8753475" y="2428875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4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61.52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A0C15F-FDC8-4307-8217-B62C43D188C7}"/>
              </a:ext>
            </a:extLst>
          </p:cNvPr>
          <p:cNvSpPr>
            <a:spLocks noGrp="1"/>
          </p:cNvSpPr>
          <p:nvPr/>
        </p:nvSpPr>
        <p:spPr>
          <a:xfrm>
            <a:off x="8753475" y="31051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best reported test RMSE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5E93F-5B7C-4BC7-B9B0-65B5BB38F0FB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66675" cy="1428750"/>
          </a:xfrm>
          <a:prstGeom prst="rect">
            <a:avLst/>
          </a:prstGeom>
          <a:solidFill>
            <a:srgbClr val="E8794E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D9EB43-40BC-4626-9E8A-B7119703A952}"/>
              </a:ext>
            </a:extLst>
          </p:cNvPr>
          <p:cNvSpPr>
            <a:spLocks noGrp="1"/>
          </p:cNvSpPr>
          <p:nvPr/>
        </p:nvSpPr>
        <p:spPr>
          <a:xfrm>
            <a:off x="933450" y="39338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Validation caveat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29879C-8661-44DB-B750-BED6BA7BDB74}"/>
              </a:ext>
            </a:extLst>
          </p:cNvPr>
          <p:cNvSpPr>
            <a:spLocks noGrp="1"/>
          </p:cNvSpPr>
          <p:nvPr/>
        </p:nvSpPr>
        <p:spPr>
          <a:xfrm>
            <a:off x="933450" y="4333875"/>
            <a:ext cx="9906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notebook reports 10,501 missing dates after parsing, then forward-fills them. Its held-out window covers only about a week. Fixing chronology may change every time-series score.</a:t>
            </a:r>
          </a:p>
        </p:txBody>
      </p:sp>
    </p:spTree>
    <p:extLst>
      <p:ext uri="{BB962C8B-B14F-4D97-AF65-F5344CB8AC3E}">
        <p14:creationId xmlns:p14="http://schemas.microsoft.com/office/powerpoint/2010/main" val="110546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4DBA40-30FF-41BB-9660-2E948616E3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Business objective and prediction target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790C2-04A2-4DC2-AA5C-70AE12F4E6B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170D5B-317F-4E64-85B0-EF3CC186203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173AA-D4CD-4F37-8B20-113F2D4D3A40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Business 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CC1F0-63A5-463C-8C00-80C11E78497D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524375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Forecast hourly rental demand so an operator can plan bike availability, station rebalancing and service capacity ahead of expected peaks.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68077-778C-4CB1-BB7D-243961AA9A84}"/>
              </a:ext>
            </a:extLst>
          </p:cNvPr>
          <p:cNvSpPr>
            <a:spLocks noGrp="1"/>
          </p:cNvSpPr>
          <p:nvPr/>
        </p:nvSpPr>
        <p:spPr>
          <a:xfrm>
            <a:off x="5762625" y="1447800"/>
            <a:ext cx="19050" cy="38576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C4871-FF03-4DC9-BE20-C5DFE69F629B}"/>
              </a:ext>
            </a:extLst>
          </p:cNvPr>
          <p:cNvSpPr>
            <a:spLocks noGrp="1"/>
          </p:cNvSpPr>
          <p:nvPr/>
        </p:nvSpPr>
        <p:spPr>
          <a:xfrm>
            <a:off x="6267450" y="14668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Prediction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C74C72-B362-4AED-AFD5-8E4F3AC0FA8E}"/>
              </a:ext>
            </a:extLst>
          </p:cNvPr>
          <p:cNvSpPr>
            <a:spLocks noGrp="1"/>
          </p:cNvSpPr>
          <p:nvPr/>
        </p:nvSpPr>
        <p:spPr>
          <a:xfrm>
            <a:off x="6267450" y="20574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3F2E3A-8486-4D7B-87EF-3D7E47837886}"/>
              </a:ext>
            </a:extLst>
          </p:cNvPr>
          <p:cNvSpPr>
            <a:spLocks noGrp="1"/>
          </p:cNvSpPr>
          <p:nvPr/>
        </p:nvSpPr>
        <p:spPr>
          <a:xfrm>
            <a:off x="6267450" y="2352675"/>
            <a:ext cx="485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Calendar, hour, season, weather and engineered demand-context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549190-67BD-4F40-A7B5-9F63D62EAB16}"/>
              </a:ext>
            </a:extLst>
          </p:cNvPr>
          <p:cNvSpPr>
            <a:spLocks noGrp="1"/>
          </p:cNvSpPr>
          <p:nvPr/>
        </p:nvSpPr>
        <p:spPr>
          <a:xfrm>
            <a:off x="6267450" y="32289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FDE6C0-A032-4D7D-B6CB-B86CA00B8E58}"/>
              </a:ext>
            </a:extLst>
          </p:cNvPr>
          <p:cNvSpPr>
            <a:spLocks noGrp="1"/>
          </p:cNvSpPr>
          <p:nvPr/>
        </p:nvSpPr>
        <p:spPr>
          <a:xfrm>
            <a:off x="6267450" y="35242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cnt = total hourly rentals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C14988-D38B-43E0-A077-5DA7A863216C}"/>
              </a:ext>
            </a:extLst>
          </p:cNvPr>
          <p:cNvSpPr>
            <a:spLocks noGrp="1"/>
          </p:cNvSpPr>
          <p:nvPr/>
        </p:nvSpPr>
        <p:spPr>
          <a:xfrm>
            <a:off x="6267450" y="42195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75FC0-B8A7-4702-8940-F8C123D58388}"/>
              </a:ext>
            </a:extLst>
          </p:cNvPr>
          <p:cNvSpPr>
            <a:spLocks noGrp="1"/>
          </p:cNvSpPr>
          <p:nvPr/>
        </p:nvSpPr>
        <p:spPr>
          <a:xfrm>
            <a:off x="6267450" y="4514850"/>
            <a:ext cx="485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Supervised regression. Errors are measured in bikes rented per hour.</a:t>
            </a:r>
          </a:p>
        </p:txBody>
      </p:sp>
    </p:spTree>
    <p:extLst>
      <p:ext uri="{BB962C8B-B14F-4D97-AF65-F5344CB8AC3E}">
        <p14:creationId xmlns:p14="http://schemas.microsoft.com/office/powerpoint/2010/main" val="76967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6ED354A-F21D-445E-B338-BD9F73B005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Dataset and analytical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9FDAC4-EFD1-4DEB-943D-AF85FBDDA2F4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18D3F-43C0-4BC2-9086-D26B343730E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85B5A-05D0-46C7-A7C4-C5880D1B3E6D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2809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17,379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04FCC-AE9F-4F35-BC63-2811CC9BC48F}"/>
              </a:ext>
            </a:extLst>
          </p:cNvPr>
          <p:cNvSpPr>
            <a:spLocks noGrp="1"/>
          </p:cNvSpPr>
          <p:nvPr/>
        </p:nvSpPr>
        <p:spPr>
          <a:xfrm>
            <a:off x="800100" y="21812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hourly observations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F4BB7-2ADE-460D-BE5B-7C65A1BD7074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2809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40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FE6BE-E6B8-41EC-A2E0-4E3BBBEA6F31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columns in the source 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1A4491-0781-4084-9D3E-FDAE13CBAAA6}"/>
              </a:ext>
            </a:extLst>
          </p:cNvPr>
          <p:cNvSpPr>
            <a:spLocks noGrp="1"/>
          </p:cNvSpPr>
          <p:nvPr/>
        </p:nvSpPr>
        <p:spPr>
          <a:xfrm>
            <a:off x="4095750" y="1476375"/>
            <a:ext cx="19050" cy="37909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7B6F1-D064-4038-ADEB-193915449969}"/>
              </a:ext>
            </a:extLst>
          </p:cNvPr>
          <p:cNvSpPr>
            <a:spLocks noGrp="1"/>
          </p:cNvSpPr>
          <p:nvPr/>
        </p:nvSpPr>
        <p:spPr>
          <a:xfrm>
            <a:off x="4533900" y="1476375"/>
            <a:ext cx="600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Feature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E50D3-DE26-4B85-B53E-842015B2350A}"/>
              </a:ext>
            </a:extLst>
          </p:cNvPr>
          <p:cNvSpPr>
            <a:spLocks noGrp="1"/>
          </p:cNvSpPr>
          <p:nvPr/>
        </p:nvSpPr>
        <p:spPr>
          <a:xfrm>
            <a:off x="4533900" y="2028825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Time and calendar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dteday, yr, mnth, hr, weekday, holiday, workingday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6A96F-60A3-43E6-BA36-2EB57F254C60}"/>
              </a:ext>
            </a:extLst>
          </p:cNvPr>
          <p:cNvSpPr>
            <a:spLocks noGrp="1"/>
          </p:cNvSpPr>
          <p:nvPr/>
        </p:nvSpPr>
        <p:spPr>
          <a:xfrm>
            <a:off x="4533900" y="3028950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Weather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season, weathersit, temp, atemp, hum, windspeed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9403C8-D233-4DBF-A024-2DEED0759150}"/>
              </a:ext>
            </a:extLst>
          </p:cNvPr>
          <p:cNvSpPr>
            <a:spLocks noGrp="1"/>
          </p:cNvSpPr>
          <p:nvPr/>
        </p:nvSpPr>
        <p:spPr>
          <a:xfrm>
            <a:off x="4533900" y="4029075"/>
            <a:ext cx="619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Rental counts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casual, registered, cnt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E63C60-87CF-42D2-BD04-9604A8670C6E}"/>
              </a:ext>
            </a:extLst>
          </p:cNvPr>
          <p:cNvSpPr>
            <a:spLocks noGrp="1"/>
          </p:cNvSpPr>
          <p:nvPr/>
        </p:nvSpPr>
        <p:spPr>
          <a:xfrm>
            <a:off x="781050" y="5391150"/>
            <a:ext cx="10477500" cy="95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76FFDE-E7FA-4FC4-BB00-479E8EE9514F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76"/>
          </a:bodyPr>
          <a:lstStyle>
            <a:def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794E"/>
                </a:solidFill>
                <a:latin typeface="Arial"/>
                <a:ea typeface="Arial"/>
                <a:cs typeface="Arial"/>
              </a:rPr>
              <a:t>No latitude, longitude or station identifier appears in the supplied schema. The project visual is a workflow map, not a geographic map.</a:t>
            </a:r>
          </a:p>
        </p:txBody>
      </p:sp>
    </p:spTree>
    <p:extLst>
      <p:ext uri="{BB962C8B-B14F-4D97-AF65-F5344CB8AC3E}">
        <p14:creationId xmlns:p14="http://schemas.microsoft.com/office/powerpoint/2010/main" val="157135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FE4619A-D168-49D6-8FDF-FA705781CAC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Cleaning and data quality checks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E3A78D-0705-44CB-B325-711DE99DFF1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2F5EA6-5D55-484C-81C2-EAE2513DC21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8BBBD-9083-4018-AD26-20099436AE56}"/>
              </a:ext>
            </a:extLst>
          </p:cNvPr>
          <p:cNvSpPr>
            <a:spLocks noGrp="1"/>
          </p:cNvSpPr>
          <p:nvPr/>
        </p:nvSpPr>
        <p:spPr>
          <a:xfrm>
            <a:off x="781050" y="1438275"/>
            <a:ext cx="433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Checks that passed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F903D7-BB16-4F30-8AB7-982D907A040C}"/>
              </a:ext>
            </a:extLst>
          </p:cNvPr>
          <p:cNvSpPr>
            <a:spLocks noGrp="1"/>
          </p:cNvSpPr>
          <p:nvPr/>
        </p:nvSpPr>
        <p:spPr>
          <a:xfrm>
            <a:off x="781050" y="1971675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0 duplicate rows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0 invalid values in checked hour, weekday, normalized weather and nonnegative target ranges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IQR outliers retained because peaks can be genuine demand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B05E8-F241-4E0C-960D-1FFA56D76ACC}"/>
              </a:ext>
            </a:extLst>
          </p:cNvPr>
          <p:cNvSpPr>
            <a:spLocks noGrp="1"/>
          </p:cNvSpPr>
          <p:nvPr/>
        </p:nvSpPr>
        <p:spPr>
          <a:xfrm>
            <a:off x="5886450" y="1447800"/>
            <a:ext cx="19050" cy="38290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400CF8-50DE-41E1-AB3B-51A7E1124C19}"/>
              </a:ext>
            </a:extLst>
          </p:cNvPr>
          <p:cNvSpPr>
            <a:spLocks noGrp="1"/>
          </p:cNvSpPr>
          <p:nvPr/>
        </p:nvSpPr>
        <p:spPr>
          <a:xfrm>
            <a:off x="6324600" y="14382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Issues to resolve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26ED43-2734-4682-9452-A49D85F1B023}"/>
              </a:ext>
            </a:extLst>
          </p:cNvPr>
          <p:cNvSpPr>
            <a:spLocks noGrp="1"/>
          </p:cNvSpPr>
          <p:nvPr/>
        </p:nvSpPr>
        <p:spPr>
          <a:xfrm>
            <a:off x="6324600" y="1971675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10,501 dteday values became missing after conversion. The notebook forward-filled dates.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ACE01-7C8B-43C0-9548-CB56ACE75607}"/>
              </a:ext>
            </a:extLst>
          </p:cNvPr>
          <p:cNvSpPr>
            <a:spLocks noGrp="1"/>
          </p:cNvSpPr>
          <p:nvPr/>
        </p:nvSpPr>
        <p:spPr>
          <a:xfrm>
            <a:off x="6324600" y="291465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74"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Six categorical values remained missing after cleaning: holiday (1) and workingday (5). The training pipeline later imputes categorical features by most frequent value.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3065C-D871-4898-9F35-2F0A668972C9}"/>
              </a:ext>
            </a:extLst>
          </p:cNvPr>
          <p:cNvSpPr>
            <a:spLocks noGrp="1"/>
          </p:cNvSpPr>
          <p:nvPr/>
        </p:nvSpPr>
        <p:spPr>
          <a:xfrm>
            <a:off x="6324600" y="4124325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Target cnt was not imputed. Numeric question-mark sentinels were converted to missing values; numerical features used median imputation.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66485-49BB-4962-9EE2-424889A51FD2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10477500" cy="95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120EA-A74A-49CB-B071-F6992512A0D2}"/>
              </a:ext>
            </a:extLst>
          </p:cNvPr>
          <p:cNvSpPr>
            <a:spLocks noGrp="1"/>
          </p:cNvSpPr>
          <p:nvPr/>
        </p:nvSpPr>
        <p:spPr>
          <a:xfrm>
            <a:off x="781050" y="5648325"/>
            <a:ext cx="1047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IQR counts: 505 cnt • 1,192 casual • 680 registered • 341 windspeed • 22 humidity</a:t>
            </a:r>
          </a:p>
        </p:txBody>
      </p:sp>
    </p:spTree>
    <p:extLst>
      <p:ext uri="{BB962C8B-B14F-4D97-AF65-F5344CB8AC3E}">
        <p14:creationId xmlns:p14="http://schemas.microsoft.com/office/powerpoint/2010/main" val="122606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0595D0-731F-4B5B-BBAE-189403BF4FE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EDA: demand follows the hour of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A4E8E4-DBAD-4654-9538-B1F035B2BCA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9FD56-AC6F-4E17-8199-9A629788D7A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A9EFA-04F9-469F-A509-F7FE352C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20494"/>
            <a:ext cx="7124700" cy="39122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E62C70-A94B-4639-91AC-9ECBFC2DC115}"/>
              </a:ext>
            </a:extLst>
          </p:cNvPr>
          <p:cNvSpPr>
            <a:spLocks noGrp="1"/>
          </p:cNvSpPr>
          <p:nvPr/>
        </p:nvSpPr>
        <p:spPr>
          <a:xfrm>
            <a:off x="8134350" y="162877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Commute peaks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265412-FF3B-4132-A38B-7BC4DC6F8751}"/>
              </a:ext>
            </a:extLst>
          </p:cNvPr>
          <p:cNvSpPr>
            <a:spLocks noGrp="1"/>
          </p:cNvSpPr>
          <p:nvPr/>
        </p:nvSpPr>
        <p:spPr>
          <a:xfrm>
            <a:off x="8134350" y="2133600"/>
            <a:ext cx="31908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Average rentals rise sharply around 08:00 and peak again around 17:00–18:00.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D439DA-40C5-4DF6-BF5F-D5CC8C898A13}"/>
              </a:ext>
            </a:extLst>
          </p:cNvPr>
          <p:cNvSpPr>
            <a:spLocks noGrp="1"/>
          </p:cNvSpPr>
          <p:nvPr/>
        </p:nvSpPr>
        <p:spPr>
          <a:xfrm>
            <a:off x="8134350" y="33147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Quiet overnight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274170-30A1-4F67-A549-2631908F0584}"/>
              </a:ext>
            </a:extLst>
          </p:cNvPr>
          <p:cNvSpPr>
            <a:spLocks noGrp="1"/>
          </p:cNvSpPr>
          <p:nvPr/>
        </p:nvSpPr>
        <p:spPr>
          <a:xfrm>
            <a:off x="8134350" y="3810000"/>
            <a:ext cx="31908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Demand reaches its lowest point around 04:00, then climbs through the morning.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60980-C551-4329-8B8F-BB605463F519}"/>
              </a:ext>
            </a:extLst>
          </p:cNvPr>
          <p:cNvSpPr>
            <a:spLocks noGrp="1"/>
          </p:cNvSpPr>
          <p:nvPr/>
        </p:nvSpPr>
        <p:spPr>
          <a:xfrm>
            <a:off x="8134350" y="4972050"/>
            <a:ext cx="3190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66"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The target distribution is right-skewed, with a small number of high-demand hours.</a:t>
            </a:r>
          </a:p>
        </p:txBody>
      </p:sp>
    </p:spTree>
    <p:extLst>
      <p:ext uri="{BB962C8B-B14F-4D97-AF65-F5344CB8AC3E}">
        <p14:creationId xmlns:p14="http://schemas.microsoft.com/office/powerpoint/2010/main" val="78858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C8848D6-C7EB-4CF5-BCCF-BB66FA099DE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EDA: weather and calendar signals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D43DB7-C08C-4BF4-9FEA-90A5D5295AC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F24ED-E01C-4FAF-9424-40875092E97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B8B49A-51B9-466C-ADAA-3FEEF14FE029}"/>
              </a:ext>
            </a:extLst>
          </p:cNvPr>
          <p:cNvSpPr>
            <a:spLocks noGrp="1"/>
          </p:cNvSpPr>
          <p:nvPr/>
        </p:nvSpPr>
        <p:spPr>
          <a:xfrm>
            <a:off x="781050" y="136207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25E"/>
                </a:solidFill>
                <a:latin typeface="Arial"/>
                <a:ea typeface="Arial"/>
                <a:cs typeface="Arial"/>
              </a:rPr>
              <a:t>Correlation with hourly rentals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87D32DEE-A755-4D78-908F-3BCD6B90B4A5}"/>
              </a:ext>
            </a:extLst>
          </p:cNvPr>
          <p:cNvGraphicFramePr/>
          <p:nvPr/>
        </p:nvGraphicFramePr>
        <p:xfrm>
          <a:off x="590550" y="1657350"/>
          <a:ext cx="6572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62D523A-AAE9-4761-B8BA-FB2F96C7B771}"/>
              </a:ext>
            </a:extLst>
          </p:cNvPr>
          <p:cNvSpPr>
            <a:spLocks noGrp="1"/>
          </p:cNvSpPr>
          <p:nvPr/>
        </p:nvSpPr>
        <p:spPr>
          <a:xfrm>
            <a:off x="77533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Positive association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28C1CD-C13D-42F0-B8E9-B25C6E1B0B93}"/>
              </a:ext>
            </a:extLst>
          </p:cNvPr>
          <p:cNvSpPr>
            <a:spLocks noGrp="1"/>
          </p:cNvSpPr>
          <p:nvPr/>
        </p:nvSpPr>
        <p:spPr>
          <a:xfrm>
            <a:off x="7753350" y="2200275"/>
            <a:ext cx="34290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Temperature, feels-like temperature and hour show the strongest positive linear correlations.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24AEE-1BEF-489F-8A76-17AD82E0DDFF}"/>
              </a:ext>
            </a:extLst>
          </p:cNvPr>
          <p:cNvSpPr>
            <a:spLocks noGrp="1"/>
          </p:cNvSpPr>
          <p:nvPr/>
        </p:nvSpPr>
        <p:spPr>
          <a:xfrm>
            <a:off x="7753350" y="33718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Negative association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36A87-B5EC-48E8-AD02-D6B1519BDDA2}"/>
              </a:ext>
            </a:extLst>
          </p:cNvPr>
          <p:cNvSpPr>
            <a:spLocks noGrp="1"/>
          </p:cNvSpPr>
          <p:nvPr/>
        </p:nvSpPr>
        <p:spPr>
          <a:xfrm>
            <a:off x="7753350" y="3790950"/>
            <a:ext cx="3429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Humidity is negatively correlated with demand. Notebook EDA also reports lower rentals in poorer weather and summer/fall seasonality.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4D1BCA-EA73-47A3-8316-320DFD4F1C8F}"/>
              </a:ext>
            </a:extLst>
          </p:cNvPr>
          <p:cNvSpPr>
            <a:spLocks noGrp="1"/>
          </p:cNvSpPr>
          <p:nvPr/>
        </p:nvSpPr>
        <p:spPr>
          <a:xfrm>
            <a:off x="7753350" y="5257800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03"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temp 0.404 • atemp 0.401 • hour 0.394 • humidity −0.323. Correlations describe association, not cause.</a:t>
            </a:r>
          </a:p>
        </p:txBody>
      </p:sp>
    </p:spTree>
    <p:extLst>
      <p:ext uri="{BB962C8B-B14F-4D97-AF65-F5344CB8AC3E}">
        <p14:creationId xmlns:p14="http://schemas.microsoft.com/office/powerpoint/2010/main" val="194056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204FA9-C491-47B3-9E5E-377FF9487BC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EDA: workday patterns and monthly demand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42487-8067-4AFE-9234-81D6FEA49B9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3D789-FB53-4A2B-89C9-EDB9B98B245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C5DF8-6999-4D49-8F7F-BF51263E8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427055"/>
            <a:ext cx="6819900" cy="36895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49E68D-5A0B-46F7-AFA3-42988495F7A4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3381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Different daily rhythms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62368-0702-4F73-BD84-2A9828B78A3A}"/>
              </a:ext>
            </a:extLst>
          </p:cNvPr>
          <p:cNvSpPr>
            <a:spLocks noGrp="1"/>
          </p:cNvSpPr>
          <p:nvPr/>
        </p:nvSpPr>
        <p:spPr>
          <a:xfrm>
            <a:off x="7791450" y="2057400"/>
            <a:ext cx="33718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17"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Working days show sharper morning and evening peaks. Non-working days rise more gradually into the afternoon.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74FBB-7381-485E-B96B-32DF7D90295F}"/>
              </a:ext>
            </a:extLst>
          </p:cNvPr>
          <p:cNvSpPr>
            <a:spLocks noGrp="1"/>
          </p:cNvSpPr>
          <p:nvPr/>
        </p:nvSpPr>
        <p:spPr>
          <a:xfrm>
            <a:off x="7791450" y="3124200"/>
            <a:ext cx="3381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Seasonal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255F97-A22B-44D6-B696-A7854515E06A}"/>
              </a:ext>
            </a:extLst>
          </p:cNvPr>
          <p:cNvSpPr>
            <a:spLocks noGrp="1"/>
          </p:cNvSpPr>
          <p:nvPr/>
        </p:nvSpPr>
        <p:spPr>
          <a:xfrm>
            <a:off x="7791450" y="3476625"/>
            <a:ext cx="33718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Notebook summary: demand builds into mid-year, peaks around June–September, then falls toward winter.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A5FF6-46A8-4DFE-B400-EBE3106F7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5930" y="4276725"/>
            <a:ext cx="3902889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5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8F39E2-EDC8-4665-8C9B-D358ED2BEEB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Time-series analysis and chronology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49F6C-2634-46AC-A5C8-A92699EF40F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173EE-192E-4268-B4CC-4D14F7563ED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B88D5-632A-4246-8F52-C7F7C076B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07633"/>
            <a:ext cx="7334250" cy="25664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29FBD4-2B57-44CD-B52F-E0D57ECA2F23}"/>
              </a:ext>
            </a:extLst>
          </p:cNvPr>
          <p:cNvSpPr>
            <a:spLocks noGrp="1"/>
          </p:cNvSpPr>
          <p:nvPr/>
        </p:nvSpPr>
        <p:spPr>
          <a:xfrm>
            <a:off x="8324850" y="1571625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Treat this plot as a QA 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01F848-7D09-40A7-9213-8973ADFBCBCF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monthly series contains extreme spikes after the notebook reports 10,501 missing parsed dates and forward-fills them.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59006-51E7-4E33-B81D-A1A107B72F0A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57150" cy="1095375"/>
          </a:xfrm>
          <a:prstGeom prst="rect">
            <a:avLst/>
          </a:prstGeom>
          <a:solidFill>
            <a:srgbClr val="E8794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61F465-DF23-47E9-B896-1D7A9F26FB5C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Notebook split dates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0E618-E628-4A05-B4EB-FB21176F0E6C}"/>
              </a:ext>
            </a:extLst>
          </p:cNvPr>
          <p:cNvSpPr>
            <a:spLocks noGrp="1"/>
          </p:cNvSpPr>
          <p:nvPr/>
        </p:nvSpPr>
        <p:spPr>
          <a:xfrm>
            <a:off x="952500" y="5162550"/>
            <a:ext cx="6905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Train: 1 Jan 2011 to 5 Dec 2012, 12:00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Test: 5 Dec 2012, 12:00 to 12 Dec 2012, 23:00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51884-5D6B-4896-AA81-1AF1B6222048}"/>
              </a:ext>
            </a:extLst>
          </p:cNvPr>
          <p:cNvSpPr>
            <a:spLocks noGrp="1"/>
          </p:cNvSpPr>
          <p:nvPr/>
        </p:nvSpPr>
        <p:spPr>
          <a:xfrm>
            <a:off x="8324850" y="3943350"/>
            <a:ext cx="315277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A one-week holdout cannot test full seasonal generalization. Parse dates explicitly, verify unique increasing timestamps and rerun all time-based analysis before trusting these metrics.</a:t>
            </a:r>
          </a:p>
        </p:txBody>
      </p:sp>
    </p:spTree>
    <p:extLst>
      <p:ext uri="{BB962C8B-B14F-4D97-AF65-F5344CB8AC3E}">
        <p14:creationId xmlns:p14="http://schemas.microsoft.com/office/powerpoint/2010/main" val="1507078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5C70F518-530A-4EB3-BCBE-6D670133CBC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Project workflow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50DB45-0D0D-41D5-B44F-5738EC0CE69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FA8D7-A205-4399-B9CC-B2E40D5AE30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89D49-306A-4300-8B82-BD60718D383C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1381125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005750-284C-484C-BFBF-1F22593F40CD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A74B4F-969D-4846-8A83-5AD38A1E2C38}"/>
              </a:ext>
            </a:extLst>
          </p:cNvPr>
          <p:cNvSpPr>
            <a:spLocks noGrp="1"/>
          </p:cNvSpPr>
          <p:nvPr/>
        </p:nvSpPr>
        <p:spPr>
          <a:xfrm>
            <a:off x="7429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FE1E6-207B-41E6-BA7A-7C4381CC5BE0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Hourly CSV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17 fields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E32B8E-D463-49C2-90B3-25990DCA5AE0}"/>
              </a:ext>
            </a:extLst>
          </p:cNvPr>
          <p:cNvSpPr>
            <a:spLocks noGrp="1"/>
          </p:cNvSpPr>
          <p:nvPr/>
        </p:nvSpPr>
        <p:spPr>
          <a:xfrm>
            <a:off x="2000250" y="2867025"/>
            <a:ext cx="209550" cy="28575"/>
          </a:xfrm>
          <a:prstGeom prst="rect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B405F2D-45B6-466C-9F9C-9742BCEA1E39}"/>
              </a:ext>
            </a:extLst>
          </p:cNvPr>
          <p:cNvSpPr>
            <a:spLocks noGrp="1"/>
          </p:cNvSpPr>
          <p:nvPr/>
        </p:nvSpPr>
        <p:spPr>
          <a:xfrm>
            <a:off x="2143125" y="2809875"/>
            <a:ext cx="95250" cy="142875"/>
          </a:xfrm>
          <a:prstGeom prst="rightArrow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2D9C5-6BA0-4AC2-94A7-4EDFEC4E3AD1}"/>
              </a:ext>
            </a:extLst>
          </p:cNvPr>
          <p:cNvSpPr>
            <a:spLocks noGrp="1"/>
          </p:cNvSpPr>
          <p:nvPr/>
        </p:nvSpPr>
        <p:spPr>
          <a:xfrm>
            <a:off x="2266950" y="2238375"/>
            <a:ext cx="1381125" cy="1409700"/>
          </a:xfrm>
          <a:prstGeom prst="rect">
            <a:avLst/>
          </a:prstGeom>
          <a:solidFill>
            <a:srgbClr val="DDEDE7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96CDE-3171-4F99-9647-66F4044AC47A}"/>
              </a:ext>
            </a:extLst>
          </p:cNvPr>
          <p:cNvSpPr>
            <a:spLocks noGrp="1"/>
          </p:cNvSpPr>
          <p:nvPr/>
        </p:nvSpPr>
        <p:spPr>
          <a:xfrm>
            <a:off x="24193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1C580-326E-4ADC-A3E8-55BDE906BCDE}"/>
              </a:ext>
            </a:extLst>
          </p:cNvPr>
          <p:cNvSpPr>
            <a:spLocks noGrp="1"/>
          </p:cNvSpPr>
          <p:nvPr/>
        </p:nvSpPr>
        <p:spPr>
          <a:xfrm>
            <a:off x="24193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EA24A3-13D2-474F-B50A-A851FAF5CD4D}"/>
              </a:ext>
            </a:extLst>
          </p:cNvPr>
          <p:cNvSpPr>
            <a:spLocks noGrp="1"/>
          </p:cNvSpPr>
          <p:nvPr/>
        </p:nvSpPr>
        <p:spPr>
          <a:xfrm>
            <a:off x="24193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Clean types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check gaps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F6486-1911-463B-828D-BD7D5D70BC34}"/>
              </a:ext>
            </a:extLst>
          </p:cNvPr>
          <p:cNvSpPr>
            <a:spLocks noGrp="1"/>
          </p:cNvSpPr>
          <p:nvPr/>
        </p:nvSpPr>
        <p:spPr>
          <a:xfrm>
            <a:off x="3676650" y="2867025"/>
            <a:ext cx="209550" cy="28575"/>
          </a:xfrm>
          <a:prstGeom prst="rect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E2DE94F-178E-4DF5-B637-36C1EC56F866}"/>
              </a:ext>
            </a:extLst>
          </p:cNvPr>
          <p:cNvSpPr>
            <a:spLocks noGrp="1"/>
          </p:cNvSpPr>
          <p:nvPr/>
        </p:nvSpPr>
        <p:spPr>
          <a:xfrm>
            <a:off x="3819525" y="2809875"/>
            <a:ext cx="95250" cy="142875"/>
          </a:xfrm>
          <a:prstGeom prst="rightArrow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F4F4D1-FA8A-4604-A36C-4A25D4ED6CBF}"/>
              </a:ext>
            </a:extLst>
          </p:cNvPr>
          <p:cNvSpPr>
            <a:spLocks noGrp="1"/>
          </p:cNvSpPr>
          <p:nvPr/>
        </p:nvSpPr>
        <p:spPr>
          <a:xfrm>
            <a:off x="3943350" y="2238375"/>
            <a:ext cx="1381125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0EE42-D6FD-4236-B70B-0C59176DCFCA}"/>
              </a:ext>
            </a:extLst>
          </p:cNvPr>
          <p:cNvSpPr>
            <a:spLocks noGrp="1"/>
          </p:cNvSpPr>
          <p:nvPr/>
        </p:nvSpPr>
        <p:spPr>
          <a:xfrm>
            <a:off x="40957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05F6A6-DD56-4323-BFAF-5CC4F689483F}"/>
              </a:ext>
            </a:extLst>
          </p:cNvPr>
          <p:cNvSpPr>
            <a:spLocks noGrp="1"/>
          </p:cNvSpPr>
          <p:nvPr/>
        </p:nvSpPr>
        <p:spPr>
          <a:xfrm>
            <a:off x="40957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34E7CD-0A7F-464B-B06D-E0A80C8EEFD3}"/>
              </a:ext>
            </a:extLst>
          </p:cNvPr>
          <p:cNvSpPr>
            <a:spLocks noGrp="1"/>
          </p:cNvSpPr>
          <p:nvPr/>
        </p:nvSpPr>
        <p:spPr>
          <a:xfrm>
            <a:off x="40957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EDA and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time patterns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7FD62-854D-452E-AB26-02879B1B72A1}"/>
              </a:ext>
            </a:extLst>
          </p:cNvPr>
          <p:cNvSpPr>
            <a:spLocks noGrp="1"/>
          </p:cNvSpPr>
          <p:nvPr/>
        </p:nvSpPr>
        <p:spPr>
          <a:xfrm>
            <a:off x="5353050" y="2867025"/>
            <a:ext cx="209550" cy="28575"/>
          </a:xfrm>
          <a:prstGeom prst="rect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35882BD-BB0E-4871-A56B-0C35C23ACF86}"/>
              </a:ext>
            </a:extLst>
          </p:cNvPr>
          <p:cNvSpPr>
            <a:spLocks noGrp="1"/>
          </p:cNvSpPr>
          <p:nvPr/>
        </p:nvSpPr>
        <p:spPr>
          <a:xfrm>
            <a:off x="5495925" y="2809875"/>
            <a:ext cx="95250" cy="142875"/>
          </a:xfrm>
          <a:prstGeom prst="rightArrow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2BBDA3-FC67-476D-B6BD-065E3EC4994C}"/>
              </a:ext>
            </a:extLst>
          </p:cNvPr>
          <p:cNvSpPr>
            <a:spLocks noGrp="1"/>
          </p:cNvSpPr>
          <p:nvPr/>
        </p:nvSpPr>
        <p:spPr>
          <a:xfrm>
            <a:off x="5619750" y="2238375"/>
            <a:ext cx="1381125" cy="1409700"/>
          </a:xfrm>
          <a:prstGeom prst="rect">
            <a:avLst/>
          </a:prstGeom>
          <a:solidFill>
            <a:srgbClr val="DDEDE7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B5F995-04BE-4E55-AED9-16763B1F1DAD}"/>
              </a:ext>
            </a:extLst>
          </p:cNvPr>
          <p:cNvSpPr>
            <a:spLocks noGrp="1"/>
          </p:cNvSpPr>
          <p:nvPr/>
        </p:nvSpPr>
        <p:spPr>
          <a:xfrm>
            <a:off x="57721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EADD54-D610-4BDA-9126-18DCCB541BB0}"/>
              </a:ext>
            </a:extLst>
          </p:cNvPr>
          <p:cNvSpPr>
            <a:spLocks noGrp="1"/>
          </p:cNvSpPr>
          <p:nvPr/>
        </p:nvSpPr>
        <p:spPr>
          <a:xfrm>
            <a:off x="57721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08B571-F948-41CF-A968-D9E778995E38}"/>
              </a:ext>
            </a:extLst>
          </p:cNvPr>
          <p:cNvSpPr>
            <a:spLocks noGrp="1"/>
          </p:cNvSpPr>
          <p:nvPr/>
        </p:nvSpPr>
        <p:spPr>
          <a:xfrm>
            <a:off x="57721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97"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Calendar and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weather signals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2AD870-025B-4ECB-A3E5-4685ED18A5FA}"/>
              </a:ext>
            </a:extLst>
          </p:cNvPr>
          <p:cNvSpPr>
            <a:spLocks noGrp="1"/>
          </p:cNvSpPr>
          <p:nvPr/>
        </p:nvSpPr>
        <p:spPr>
          <a:xfrm>
            <a:off x="7029450" y="2867025"/>
            <a:ext cx="209550" cy="28575"/>
          </a:xfrm>
          <a:prstGeom prst="rect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70710A2-87E2-4589-90FD-B8C301DAC1A3}"/>
              </a:ext>
            </a:extLst>
          </p:cNvPr>
          <p:cNvSpPr>
            <a:spLocks noGrp="1"/>
          </p:cNvSpPr>
          <p:nvPr/>
        </p:nvSpPr>
        <p:spPr>
          <a:xfrm>
            <a:off x="7172325" y="2809875"/>
            <a:ext cx="95250" cy="142875"/>
          </a:xfrm>
          <a:prstGeom prst="rightArrow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2F8D16-88AC-4A09-A2B6-B53E17D7AD39}"/>
              </a:ext>
            </a:extLst>
          </p:cNvPr>
          <p:cNvSpPr>
            <a:spLocks noGrp="1"/>
          </p:cNvSpPr>
          <p:nvPr/>
        </p:nvSpPr>
        <p:spPr>
          <a:xfrm>
            <a:off x="7296150" y="2238375"/>
            <a:ext cx="1381125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ABC363-0B58-484B-B6BB-374AC7DBA588}"/>
              </a:ext>
            </a:extLst>
          </p:cNvPr>
          <p:cNvSpPr>
            <a:spLocks noGrp="1"/>
          </p:cNvSpPr>
          <p:nvPr/>
        </p:nvSpPr>
        <p:spPr>
          <a:xfrm>
            <a:off x="74485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7ACCC7-0BFF-464D-89DE-6F9D797EE65D}"/>
              </a:ext>
            </a:extLst>
          </p:cNvPr>
          <p:cNvSpPr>
            <a:spLocks noGrp="1"/>
          </p:cNvSpPr>
          <p:nvPr/>
        </p:nvSpPr>
        <p:spPr>
          <a:xfrm>
            <a:off x="74485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FA1ECB-3DD2-4F18-96FE-41499EFC7DE6}"/>
              </a:ext>
            </a:extLst>
          </p:cNvPr>
          <p:cNvSpPr>
            <a:spLocks noGrp="1"/>
          </p:cNvSpPr>
          <p:nvPr/>
        </p:nvSpPr>
        <p:spPr>
          <a:xfrm>
            <a:off x="74485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Chronological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80 / 20 split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EFB715-C974-47DD-AA74-D59BD584BC56}"/>
              </a:ext>
            </a:extLst>
          </p:cNvPr>
          <p:cNvSpPr>
            <a:spLocks noGrp="1"/>
          </p:cNvSpPr>
          <p:nvPr/>
        </p:nvSpPr>
        <p:spPr>
          <a:xfrm>
            <a:off x="8705850" y="2867025"/>
            <a:ext cx="209550" cy="28575"/>
          </a:xfrm>
          <a:prstGeom prst="rect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01BC975-BB34-44EA-816D-916CB995DFB0}"/>
              </a:ext>
            </a:extLst>
          </p:cNvPr>
          <p:cNvSpPr>
            <a:spLocks noGrp="1"/>
          </p:cNvSpPr>
          <p:nvPr/>
        </p:nvSpPr>
        <p:spPr>
          <a:xfrm>
            <a:off x="8848725" y="2809875"/>
            <a:ext cx="95250" cy="142875"/>
          </a:xfrm>
          <a:prstGeom prst="rightArrow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73568F-D4A5-408E-8897-785F6904E473}"/>
              </a:ext>
            </a:extLst>
          </p:cNvPr>
          <p:cNvSpPr>
            <a:spLocks noGrp="1"/>
          </p:cNvSpPr>
          <p:nvPr/>
        </p:nvSpPr>
        <p:spPr>
          <a:xfrm>
            <a:off x="8972550" y="2238375"/>
            <a:ext cx="1381125" cy="1409700"/>
          </a:xfrm>
          <a:prstGeom prst="rect">
            <a:avLst/>
          </a:prstGeom>
          <a:solidFill>
            <a:srgbClr val="DDEDE7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6C500F-BF52-472A-9D14-70D77EDA76A9}"/>
              </a:ext>
            </a:extLst>
          </p:cNvPr>
          <p:cNvSpPr>
            <a:spLocks noGrp="1"/>
          </p:cNvSpPr>
          <p:nvPr/>
        </p:nvSpPr>
        <p:spPr>
          <a:xfrm>
            <a:off x="91249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77BB79-898D-4BC4-B6B9-0E6CC8AE1A46}"/>
              </a:ext>
            </a:extLst>
          </p:cNvPr>
          <p:cNvSpPr>
            <a:spLocks noGrp="1"/>
          </p:cNvSpPr>
          <p:nvPr/>
        </p:nvSpPr>
        <p:spPr>
          <a:xfrm>
            <a:off x="91249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535784-2FC3-4F24-A066-9356197F7EED}"/>
              </a:ext>
            </a:extLst>
          </p:cNvPr>
          <p:cNvSpPr>
            <a:spLocks noGrp="1"/>
          </p:cNvSpPr>
          <p:nvPr/>
        </p:nvSpPr>
        <p:spPr>
          <a:xfrm>
            <a:off x="91249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20 models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CV + tuning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386470-306E-4C3D-8A91-A496C15E78C0}"/>
              </a:ext>
            </a:extLst>
          </p:cNvPr>
          <p:cNvSpPr>
            <a:spLocks noGrp="1"/>
          </p:cNvSpPr>
          <p:nvPr/>
        </p:nvSpPr>
        <p:spPr>
          <a:xfrm>
            <a:off x="10382250" y="2867025"/>
            <a:ext cx="209550" cy="28575"/>
          </a:xfrm>
          <a:prstGeom prst="rect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A82E173-2D5D-45F6-92F2-73DD0502286C}"/>
              </a:ext>
            </a:extLst>
          </p:cNvPr>
          <p:cNvSpPr>
            <a:spLocks noGrp="1"/>
          </p:cNvSpPr>
          <p:nvPr/>
        </p:nvSpPr>
        <p:spPr>
          <a:xfrm>
            <a:off x="10525125" y="2809875"/>
            <a:ext cx="95250" cy="142875"/>
          </a:xfrm>
          <a:prstGeom prst="rightArrow">
            <a:avLst/>
          </a:prstGeom>
          <a:solidFill>
            <a:srgbClr val="1C7165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62C981-0F7F-4C78-B36F-AED47D60EA8E}"/>
              </a:ext>
            </a:extLst>
          </p:cNvPr>
          <p:cNvSpPr>
            <a:spLocks noGrp="1"/>
          </p:cNvSpPr>
          <p:nvPr/>
        </p:nvSpPr>
        <p:spPr>
          <a:xfrm>
            <a:off x="10648950" y="2238375"/>
            <a:ext cx="1381125" cy="1409700"/>
          </a:xfrm>
          <a:prstGeom prst="rect">
            <a:avLst/>
          </a:prstGeom>
          <a:solidFill>
            <a:srgbClr val="104A44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2C8C7D-E23E-42DE-BDA0-3A22E395435B}"/>
              </a:ext>
            </a:extLst>
          </p:cNvPr>
          <p:cNvSpPr>
            <a:spLocks noGrp="1"/>
          </p:cNvSpPr>
          <p:nvPr/>
        </p:nvSpPr>
        <p:spPr>
          <a:xfrm>
            <a:off x="10801350" y="23907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B3D8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D8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ABE751-FE7E-49B5-B4D2-67E91348E40D}"/>
              </a:ext>
            </a:extLst>
          </p:cNvPr>
          <p:cNvSpPr>
            <a:spLocks noGrp="1"/>
          </p:cNvSpPr>
          <p:nvPr/>
        </p:nvSpPr>
        <p:spPr>
          <a:xfrm>
            <a:off x="10801350" y="2733675"/>
            <a:ext cx="1114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271984-ADC4-4D21-9730-3C6426B6FDA7}"/>
              </a:ext>
            </a:extLst>
          </p:cNvPr>
          <p:cNvSpPr>
            <a:spLocks noGrp="1"/>
          </p:cNvSpPr>
          <p:nvPr/>
        </p:nvSpPr>
        <p:spPr>
          <a:xfrm>
            <a:off x="10801350" y="3105150"/>
            <a:ext cx="1114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4DE"/>
                </a:solidFill>
                <a:latin typeface="Arial"/>
                <a:ea typeface="Arial"/>
                <a:cs typeface="Arial"/>
              </a:rPr>
              <a:t>Streamlit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4DE"/>
                </a:solidFill>
                <a:latin typeface="Arial"/>
                <a:ea typeface="Arial"/>
                <a:cs typeface="Arial"/>
              </a:rPr>
              <a:t>predict + log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F50D6E-38B5-4DF0-B23E-147D243E3B27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794E"/>
                </a:solidFill>
                <a:latin typeface="Arial"/>
                <a:ea typeface="Arial"/>
                <a:cs typeface="Arial"/>
              </a:rPr>
              <a:t>The source fields support time and weather analysis. They do not support a geographic map.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F4880D-1E0C-4FF8-A7F5-0CC93998F47E}"/>
              </a:ext>
            </a:extLst>
          </p:cNvPr>
          <p:cNvSpPr>
            <a:spLocks noGrp="1"/>
          </p:cNvSpPr>
          <p:nvPr/>
        </p:nvSpPr>
        <p:spPr>
          <a:xfrm>
            <a:off x="1362075" y="5172075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Next release gate: repair the date parse, rebuild the chronological split, then refresh model results and deployment artifacts.</a:t>
            </a:r>
          </a:p>
        </p:txBody>
      </p:sp>
    </p:spTree>
    <p:extLst>
      <p:ext uri="{BB962C8B-B14F-4D97-AF65-F5344CB8AC3E}">
        <p14:creationId xmlns:p14="http://schemas.microsoft.com/office/powerpoint/2010/main" val="478091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EA131F6-2B5B-413D-B129-DD0CB957851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Feature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DD06D-766F-4898-88EA-55B8415C0BF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16D83-0530-4117-8A22-D6C169A06FA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D5BE28-B5B1-4DBD-A613-2651646E98A9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Temporal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D1F27-03A5-4803-AE7B-69FB2FE1315F}"/>
              </a:ext>
            </a:extLst>
          </p:cNvPr>
          <p:cNvSpPr>
            <a:spLocks noGrp="1"/>
          </p:cNvSpPr>
          <p:nvPr/>
        </p:nvSpPr>
        <p:spPr>
          <a:xfrm>
            <a:off x="781050" y="2019300"/>
            <a:ext cx="476250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Year, day, day of year and week of year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Time-of-day band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Rush-hour and peak-hour flags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Weekend indicator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11298-8838-442B-B308-0AA55D02A86A}"/>
              </a:ext>
            </a:extLst>
          </p:cNvPr>
          <p:cNvSpPr>
            <a:spLocks noGrp="1"/>
          </p:cNvSpPr>
          <p:nvPr/>
        </p:nvSpPr>
        <p:spPr>
          <a:xfrm>
            <a:off x="5953125" y="1466850"/>
            <a:ext cx="19050" cy="35242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C4D93-3DBC-4B5D-AF93-3045CFCC7BF7}"/>
              </a:ext>
            </a:extLst>
          </p:cNvPr>
          <p:cNvSpPr>
            <a:spLocks noGrp="1"/>
          </p:cNvSpPr>
          <p:nvPr/>
        </p:nvSpPr>
        <p:spPr>
          <a:xfrm>
            <a:off x="6438900" y="14859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Demand and weather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CA308-7841-4C0F-8455-00F19F6682F9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76250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Temperature × humidity comfort score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Squared temperature and humidity terms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High-wind, high-humidity and adverse-weather flags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Working-day commute and season–weather interactions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C9C14D-46D6-46DD-81EE-822CC6514C06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66675" cy="895350"/>
          </a:xfrm>
          <a:prstGeom prst="rect">
            <a:avLst/>
          </a:prstGeom>
          <a:solidFill>
            <a:srgbClr val="E8794E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7D6E8C-21CD-4D58-8011-8ED177A3DFC9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046AEA-E93F-4FFB-94DE-5D8BF127C7A5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9667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17"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casual and registered were excluded because cnt = casual + registered. instant was excluded as an identifier.</a:t>
            </a:r>
          </a:p>
        </p:txBody>
      </p:sp>
    </p:spTree>
    <p:extLst>
      <p:ext uri="{BB962C8B-B14F-4D97-AF65-F5344CB8AC3E}">
        <p14:creationId xmlns:p14="http://schemas.microsoft.com/office/powerpoint/2010/main" val="173531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74CDAE8-6154-45F2-8A04-C2D5C21AB02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Encoding and scaling pipeline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B0D88-155D-4969-83EF-27B0B8CA97A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BDA26F-BD5F-4858-848B-2C57806E00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11712-FD01-42A6-A85D-4CC188090D4D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Numeric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C0B4F-FE0D-4D96-9D15-7FC14363D2AE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21717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AC1CC-7E62-4603-BC95-A045F99A8A5E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2019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Median imputation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9B5985-ED2D-479A-B2E3-C5C91D94E8B9}"/>
              </a:ext>
            </a:extLst>
          </p:cNvPr>
          <p:cNvSpPr>
            <a:spLocks noGrp="1"/>
          </p:cNvSpPr>
          <p:nvPr/>
        </p:nvSpPr>
        <p:spPr>
          <a:xfrm>
            <a:off x="2981325" y="2400300"/>
            <a:ext cx="400050" cy="28575"/>
          </a:xfrm>
          <a:prstGeom prst="rect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E3411BB-3FEC-4514-9D00-C28EBE8C5B82}"/>
              </a:ext>
            </a:extLst>
          </p:cNvPr>
          <p:cNvSpPr>
            <a:spLocks noGrp="1"/>
          </p:cNvSpPr>
          <p:nvPr/>
        </p:nvSpPr>
        <p:spPr>
          <a:xfrm>
            <a:off x="3276600" y="2333625"/>
            <a:ext cx="133350" cy="161925"/>
          </a:xfrm>
          <a:prstGeom prst="rightArrow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BB5F2-3E14-4AAD-BC85-48D015E8C451}"/>
              </a:ext>
            </a:extLst>
          </p:cNvPr>
          <p:cNvSpPr>
            <a:spLocks noGrp="1"/>
          </p:cNvSpPr>
          <p:nvPr/>
        </p:nvSpPr>
        <p:spPr>
          <a:xfrm>
            <a:off x="3467100" y="2066925"/>
            <a:ext cx="2171700" cy="704850"/>
          </a:xfrm>
          <a:prstGeom prst="rect">
            <a:avLst/>
          </a:prstGeom>
          <a:solidFill>
            <a:srgbClr val="DDEDE7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05E3C2-A437-4767-A976-768E73FDCFF3}"/>
              </a:ext>
            </a:extLst>
          </p:cNvPr>
          <p:cNvSpPr>
            <a:spLocks noGrp="1"/>
          </p:cNvSpPr>
          <p:nvPr/>
        </p:nvSpPr>
        <p:spPr>
          <a:xfrm>
            <a:off x="3543300" y="2143125"/>
            <a:ext cx="2019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Standard scaling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40C90-2D8F-4B69-B795-66FE4E4576CE}"/>
              </a:ext>
            </a:extLst>
          </p:cNvPr>
          <p:cNvSpPr>
            <a:spLocks noGrp="1"/>
          </p:cNvSpPr>
          <p:nvPr/>
        </p:nvSpPr>
        <p:spPr>
          <a:xfrm>
            <a:off x="6505575" y="15240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Categorical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9A588-E360-44C1-81DB-EC3CDE08414E}"/>
              </a:ext>
            </a:extLst>
          </p:cNvPr>
          <p:cNvSpPr>
            <a:spLocks noGrp="1"/>
          </p:cNvSpPr>
          <p:nvPr/>
        </p:nvSpPr>
        <p:spPr>
          <a:xfrm>
            <a:off x="6477000" y="2066925"/>
            <a:ext cx="21717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BDFFF-4AAB-44DA-A49E-F6512184AEFB}"/>
              </a:ext>
            </a:extLst>
          </p:cNvPr>
          <p:cNvSpPr>
            <a:spLocks noGrp="1"/>
          </p:cNvSpPr>
          <p:nvPr/>
        </p:nvSpPr>
        <p:spPr>
          <a:xfrm>
            <a:off x="6553200" y="2143125"/>
            <a:ext cx="2019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Most-frequent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imputation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5D5CA-4864-4A69-AF7D-234C713EC544}"/>
              </a:ext>
            </a:extLst>
          </p:cNvPr>
          <p:cNvSpPr>
            <a:spLocks noGrp="1"/>
          </p:cNvSpPr>
          <p:nvPr/>
        </p:nvSpPr>
        <p:spPr>
          <a:xfrm>
            <a:off x="8677275" y="2400300"/>
            <a:ext cx="400050" cy="28575"/>
          </a:xfrm>
          <a:prstGeom prst="rect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EB03A71-356D-43AE-A074-D9BBECC009F6}"/>
              </a:ext>
            </a:extLst>
          </p:cNvPr>
          <p:cNvSpPr>
            <a:spLocks noGrp="1"/>
          </p:cNvSpPr>
          <p:nvPr/>
        </p:nvSpPr>
        <p:spPr>
          <a:xfrm>
            <a:off x="8972550" y="2333625"/>
            <a:ext cx="133350" cy="161925"/>
          </a:xfrm>
          <a:prstGeom prst="rightArrow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A6D981-9281-4792-9CC5-1C05B49A0C01}"/>
              </a:ext>
            </a:extLst>
          </p:cNvPr>
          <p:cNvSpPr>
            <a:spLocks noGrp="1"/>
          </p:cNvSpPr>
          <p:nvPr/>
        </p:nvSpPr>
        <p:spPr>
          <a:xfrm>
            <a:off x="9172575" y="2066925"/>
            <a:ext cx="2171700" cy="704850"/>
          </a:xfrm>
          <a:prstGeom prst="rect">
            <a:avLst/>
          </a:prstGeom>
          <a:solidFill>
            <a:srgbClr val="DDEDE7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C418FC-E87A-423C-8416-AF3A4A60A0C4}"/>
              </a:ext>
            </a:extLst>
          </p:cNvPr>
          <p:cNvSpPr>
            <a:spLocks noGrp="1"/>
          </p:cNvSpPr>
          <p:nvPr/>
        </p:nvSpPr>
        <p:spPr>
          <a:xfrm>
            <a:off x="9248775" y="2143125"/>
            <a:ext cx="2019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One-hot encoding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unknown-safe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0FA472-4178-4E9B-A90F-B462B20B4FD3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0563225" cy="190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0EF1E3-DEC7-43B7-A533-B617FE3EA0E5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10334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fitted preprocessing sits inside the model pipeline and is learned from training folds. Tree models use imputation without scaling.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E22D44-D2F4-4292-A7AC-B2EDE20711D5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10334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Encoding methods explored: label, ordinal, one-hot, binary, frequency and target encoding. One-hot was preferred for nominal categories; target encoding requires train-only fitting.</a:t>
            </a:r>
          </a:p>
        </p:txBody>
      </p:sp>
    </p:spTree>
    <p:extLst>
      <p:ext uri="{BB962C8B-B14F-4D97-AF65-F5344CB8AC3E}">
        <p14:creationId xmlns:p14="http://schemas.microsoft.com/office/powerpoint/2010/main" val="2006427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A2CFF1F-BE6D-4E2B-9CD5-DB46F4CB5F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Regression models evaluated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41EBE7-B2AC-4884-B68F-6307ADAEE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E1604-254A-476E-A5D8-1309F6F534C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E27BC7-4577-4E87-8B16-F826285F4FE8}"/>
              </a:ext>
            </a:extLst>
          </p:cNvPr>
          <p:cNvSpPr>
            <a:spLocks noGrp="1"/>
          </p:cNvSpPr>
          <p:nvPr/>
        </p:nvSpPr>
        <p:spPr>
          <a:xfrm>
            <a:off x="781050" y="155257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Linear and robust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F4282-01E4-4675-895A-733352149226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238125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Linear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Ridge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Lasso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Elastic Net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Huber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Bayesian Ridge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SGD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Passive Aggressive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4A96C-5046-465B-B379-A4FA83DBD60B}"/>
              </a:ext>
            </a:extLst>
          </p:cNvPr>
          <p:cNvSpPr>
            <a:spLocks noGrp="1"/>
          </p:cNvSpPr>
          <p:nvPr/>
        </p:nvSpPr>
        <p:spPr>
          <a:xfrm>
            <a:off x="3286125" y="1552575"/>
            <a:ext cx="9525" cy="34766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849FFF-DDF7-4E2A-B4E4-241DD6170078}"/>
              </a:ext>
            </a:extLst>
          </p:cNvPr>
          <p:cNvSpPr>
            <a:spLocks noGrp="1"/>
          </p:cNvSpPr>
          <p:nvPr/>
        </p:nvSpPr>
        <p:spPr>
          <a:xfrm>
            <a:off x="3476625" y="155257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Nonlinear and kernel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0890EE-DBCE-4808-82B9-432ED8C92F79}"/>
              </a:ext>
            </a:extLst>
          </p:cNvPr>
          <p:cNvSpPr>
            <a:spLocks noGrp="1"/>
          </p:cNvSpPr>
          <p:nvPr/>
        </p:nvSpPr>
        <p:spPr>
          <a:xfrm>
            <a:off x="3476625" y="2038350"/>
            <a:ext cx="238125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Polynomial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KNN Regression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SVR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Decision Tree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A26331-7D1A-4578-9578-07A774874CD7}"/>
              </a:ext>
            </a:extLst>
          </p:cNvPr>
          <p:cNvSpPr>
            <a:spLocks noGrp="1"/>
          </p:cNvSpPr>
          <p:nvPr/>
        </p:nvSpPr>
        <p:spPr>
          <a:xfrm>
            <a:off x="5981700" y="1552575"/>
            <a:ext cx="9525" cy="34766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5D2646-F24A-4EDF-A077-60470ED98666}"/>
              </a:ext>
            </a:extLst>
          </p:cNvPr>
          <p:cNvSpPr>
            <a:spLocks noGrp="1"/>
          </p:cNvSpPr>
          <p:nvPr/>
        </p:nvSpPr>
        <p:spPr>
          <a:xfrm>
            <a:off x="6172200" y="155257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Tree ensembles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13FAE6-C84E-4511-BDF9-6373F19D4ECB}"/>
              </a:ext>
            </a:extLst>
          </p:cNvPr>
          <p:cNvSpPr>
            <a:spLocks noGrp="1"/>
          </p:cNvSpPr>
          <p:nvPr/>
        </p:nvSpPr>
        <p:spPr>
          <a:xfrm>
            <a:off x="6172200" y="2038350"/>
            <a:ext cx="238125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Random Forest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Extra Trees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Gradient Boosting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HistGradient Boosting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AdaBoost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XGBoost</a:t>
            </a: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LightGBM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83EFD-1B02-4430-AD5F-8B0FF5BD4E98}"/>
              </a:ext>
            </a:extLst>
          </p:cNvPr>
          <p:cNvSpPr>
            <a:spLocks noGrp="1"/>
          </p:cNvSpPr>
          <p:nvPr/>
        </p:nvSpPr>
        <p:spPr>
          <a:xfrm>
            <a:off x="8677275" y="1552575"/>
            <a:ext cx="9525" cy="34766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C560E-2E7C-43DA-892F-CC6D3E140994}"/>
              </a:ext>
            </a:extLst>
          </p:cNvPr>
          <p:cNvSpPr>
            <a:spLocks noGrp="1"/>
          </p:cNvSpPr>
          <p:nvPr/>
        </p:nvSpPr>
        <p:spPr>
          <a:xfrm>
            <a:off x="8867775" y="155257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Neural network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31A767-1D60-4C53-B985-4AA969B42296}"/>
              </a:ext>
            </a:extLst>
          </p:cNvPr>
          <p:cNvSpPr>
            <a:spLocks noGrp="1"/>
          </p:cNvSpPr>
          <p:nvPr/>
        </p:nvSpPr>
        <p:spPr>
          <a:xfrm>
            <a:off x="8867775" y="2038350"/>
            <a:ext cx="238125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7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MLP Regressor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7B423-3830-41A4-B1A6-4CEDAAA73A3F}"/>
              </a:ext>
            </a:extLst>
          </p:cNvPr>
          <p:cNvSpPr>
            <a:spLocks noGrp="1"/>
          </p:cNvSpPr>
          <p:nvPr/>
        </p:nvSpPr>
        <p:spPr>
          <a:xfrm>
            <a:off x="781050" y="5410200"/>
            <a:ext cx="10458450" cy="95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7707D2-8693-4E84-8B1E-EBC82F2FE10F}"/>
              </a:ext>
            </a:extLst>
          </p:cNvPr>
          <p:cNvSpPr>
            <a:spLocks noGrp="1"/>
          </p:cNvSpPr>
          <p:nvPr/>
        </p:nvSpPr>
        <p:spPr>
          <a:xfrm>
            <a:off x="781050" y="56007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20 models completed in the final benchmark. CatBoost was not installed and was skipped.</a:t>
            </a:r>
          </a:p>
        </p:txBody>
      </p:sp>
    </p:spTree>
    <p:extLst>
      <p:ext uri="{BB962C8B-B14F-4D97-AF65-F5344CB8AC3E}">
        <p14:creationId xmlns:p14="http://schemas.microsoft.com/office/powerpoint/2010/main" val="211257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B59793-D2FB-4803-A206-E6981F47B8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Benchmark results: stronger performers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A3CB7-5E4D-4D82-8953-8687136D5DF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29469B-4E96-419A-8BBF-BEB4C309C9A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0C5664-96E0-4136-BD76-2CAF748C5CB9}"/>
              </a:ext>
            </a:extLst>
          </p:cNvPr>
          <p:cNvSpPr>
            <a:spLocks noGrp="1"/>
          </p:cNvSpPr>
          <p:nvPr/>
        </p:nvSpPr>
        <p:spPr>
          <a:xfrm>
            <a:off x="781050" y="13716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Test RMSE in rentals per hour. Lower is better.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86796E6B-284F-4D6E-B3AF-FDDE1D5EDA4A}"/>
              </a:ext>
            </a:extLst>
          </p:cNvPr>
          <p:cNvGraphicFramePr/>
          <p:nvPr/>
        </p:nvGraphicFramePr>
        <p:xfrm>
          <a:off x="685800" y="1704975"/>
          <a:ext cx="10239375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6AF8D09-59D8-4856-B206-89098AC1B87B}"/>
              </a:ext>
            </a:extLst>
          </p:cNvPr>
          <p:cNvSpPr>
            <a:spLocks noGrp="1"/>
          </p:cNvSpPr>
          <p:nvPr/>
        </p:nvSpPr>
        <p:spPr>
          <a:xfrm>
            <a:off x="800100" y="58293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XGBoost led the all-model run. LightGBM and HistGradient Boosting were close behind.</a:t>
            </a:r>
          </a:p>
        </p:txBody>
      </p:sp>
    </p:spTree>
    <p:extLst>
      <p:ext uri="{BB962C8B-B14F-4D97-AF65-F5344CB8AC3E}">
        <p14:creationId xmlns:p14="http://schemas.microsoft.com/office/powerpoint/2010/main" val="769741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5DE30B-146A-4BAE-A0B4-38D72D3C6C7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Benchmark results: remaining models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F4B1D7-C36B-4B1A-9ABC-3D17ADE6B9A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154EF3-7F56-40BA-8A53-354DBFEE314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84483F-FC88-4759-8379-96A4C8A01D5E}"/>
              </a:ext>
            </a:extLst>
          </p:cNvPr>
          <p:cNvSpPr>
            <a:spLocks noGrp="1"/>
          </p:cNvSpPr>
          <p:nvPr/>
        </p:nvSpPr>
        <p:spPr>
          <a:xfrm>
            <a:off x="781050" y="13716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Test RMSE in rentals per hour. Lower is better.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A2FC23A4-6DA7-4A3F-8B99-710FAF53F4AF}"/>
              </a:ext>
            </a:extLst>
          </p:cNvPr>
          <p:cNvGraphicFramePr/>
          <p:nvPr/>
        </p:nvGraphicFramePr>
        <p:xfrm>
          <a:off x="685800" y="1704975"/>
          <a:ext cx="10239375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D51DAEF-B7FB-4D67-BF88-31919947CBD3}"/>
              </a:ext>
            </a:extLst>
          </p:cNvPr>
          <p:cNvSpPr>
            <a:spLocks noGrp="1"/>
          </p:cNvSpPr>
          <p:nvPr/>
        </p:nvSpPr>
        <p:spPr>
          <a:xfrm>
            <a:off x="800100" y="58293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The linear family clustered near 132 RMSE, well above the boosted-tree results on this holdout.</a:t>
            </a:r>
          </a:p>
        </p:txBody>
      </p:sp>
    </p:spTree>
    <p:extLst>
      <p:ext uri="{BB962C8B-B14F-4D97-AF65-F5344CB8AC3E}">
        <p14:creationId xmlns:p14="http://schemas.microsoft.com/office/powerpoint/2010/main" val="1138027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AD54F6-FD48-465E-A98A-4A31669A28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Successive halving and temporal cross-validation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99B970-87D3-418A-BD1D-FB628EDA611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DA931-2852-48E1-BD0B-FA7C56F5807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622D80-E616-4546-A865-59C0C23C2590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586BB-E380-453B-A4FF-14289C278218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4095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TimeSeriesSplit: 3 expanding folds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20 candidates per model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Initial resource: 1,000 rows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Maximum resource: 13,903 training rows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Halving factor: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A8DC2-F9CA-4BD5-A855-F427D704DCAF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19050" cy="38576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887CD1-C94F-4827-8689-FFD63838281B}"/>
              </a:ext>
            </a:extLst>
          </p:cNvPr>
          <p:cNvSpPr>
            <a:spLocks noGrp="1"/>
          </p:cNvSpPr>
          <p:nvPr/>
        </p:nvSpPr>
        <p:spPr>
          <a:xfrm>
            <a:off x="5886450" y="149542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Best all-model CV RMSE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8F2B0-3006-49F1-B9DE-E01341CBCECB}"/>
              </a:ext>
            </a:extLst>
          </p:cNvPr>
          <p:cNvSpPr>
            <a:spLocks noGrp="1"/>
          </p:cNvSpPr>
          <p:nvPr/>
        </p:nvSpPr>
        <p:spPr>
          <a:xfrm>
            <a:off x="5886450" y="2009775"/>
            <a:ext cx="49530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LightGBM  66.89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XGBoost  66.98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HistGradient Boosting  67.25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Gradient Boosting  67.36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Random Forest  69.62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BB5562-1A02-40A3-802B-1C2AE44B9F04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1047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794E"/>
                </a:solidFill>
                <a:latin typeface="Arial"/>
                <a:ea typeface="Arial"/>
                <a:cs typeface="Arial"/>
              </a:rPr>
              <a:t>Other notebook searches used different model subsets and split counts. One five-fold subset run reported Gradient Boosting test RMSE 61.16; an additional three-model randomized CV run selected Random Forest at 64.80. These runs are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861063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78F038-197D-4D0B-A38E-7F3E6E1FBA0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Final model and regression metrics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D66DE0-1588-476A-BA93-6768D5A6B5C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8141E1-27E4-4151-8F4E-E448A081341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0574C-4D7F-4B7F-A723-F5BA56A32E5B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477EE-E7F3-4513-AB02-C1979C211E45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Selected by the lowest test RMSE in the final 20-model tuned comparison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50DAE8-5CE5-4708-A0C1-A5D0849BF4E8}"/>
              </a:ext>
            </a:extLst>
          </p:cNvPr>
          <p:cNvSpPr>
            <a:spLocks noGrp="1"/>
          </p:cNvSpPr>
          <p:nvPr/>
        </p:nvSpPr>
        <p:spPr>
          <a:xfrm>
            <a:off x="6019800" y="1685925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23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61.52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ADD0BE-9170-4174-A823-702DD95E9E66}"/>
              </a:ext>
            </a:extLst>
          </p:cNvPr>
          <p:cNvSpPr>
            <a:spLocks noGrp="1"/>
          </p:cNvSpPr>
          <p:nvPr/>
        </p:nvSpPr>
        <p:spPr>
          <a:xfrm>
            <a:off x="6019800" y="21907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ACC4DF-A0D0-4B0A-869C-CEFD302770D6}"/>
              </a:ext>
            </a:extLst>
          </p:cNvPr>
          <p:cNvSpPr>
            <a:spLocks noGrp="1"/>
          </p:cNvSpPr>
          <p:nvPr/>
        </p:nvSpPr>
        <p:spPr>
          <a:xfrm>
            <a:off x="7343775" y="1685925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39.57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2FB305-2A66-4F14-9783-BA2A17B1C2A3}"/>
              </a:ext>
            </a:extLst>
          </p:cNvPr>
          <p:cNvSpPr>
            <a:spLocks noGrp="1"/>
          </p:cNvSpPr>
          <p:nvPr/>
        </p:nvSpPr>
        <p:spPr>
          <a:xfrm>
            <a:off x="7343775" y="21907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4FAC6-9130-417A-B45F-6697EBB0B579}"/>
              </a:ext>
            </a:extLst>
          </p:cNvPr>
          <p:cNvSpPr>
            <a:spLocks noGrp="1"/>
          </p:cNvSpPr>
          <p:nvPr/>
        </p:nvSpPr>
        <p:spPr>
          <a:xfrm>
            <a:off x="8667750" y="1685925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0.9234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94BFF6-8887-4384-9231-A1FF61AE230B}"/>
              </a:ext>
            </a:extLst>
          </p:cNvPr>
          <p:cNvSpPr>
            <a:spLocks noGrp="1"/>
          </p:cNvSpPr>
          <p:nvPr/>
        </p:nvSpPr>
        <p:spPr>
          <a:xfrm>
            <a:off x="8667750" y="21907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EBCB2-5888-4BF6-A353-0D826D29D8E5}"/>
              </a:ext>
            </a:extLst>
          </p:cNvPr>
          <p:cNvSpPr>
            <a:spLocks noGrp="1"/>
          </p:cNvSpPr>
          <p:nvPr/>
        </p:nvSpPr>
        <p:spPr>
          <a:xfrm>
            <a:off x="9991725" y="1685925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23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45.19%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868BA8-B8A9-4328-9986-3691B70BBC0C}"/>
              </a:ext>
            </a:extLst>
          </p:cNvPr>
          <p:cNvSpPr>
            <a:spLocks noGrp="1"/>
          </p:cNvSpPr>
          <p:nvPr/>
        </p:nvSpPr>
        <p:spPr>
          <a:xfrm>
            <a:off x="9991725" y="21907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MAPE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26916-272B-4301-8419-0477B5DCF636}"/>
              </a:ext>
            </a:extLst>
          </p:cNvPr>
          <p:cNvSpPr>
            <a:spLocks noGrp="1"/>
          </p:cNvSpPr>
          <p:nvPr/>
        </p:nvSpPr>
        <p:spPr>
          <a:xfrm>
            <a:off x="781050" y="3228975"/>
            <a:ext cx="10525125" cy="190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8BBA4-AB50-4589-A8F3-89BC264CA424}"/>
              </a:ext>
            </a:extLst>
          </p:cNvPr>
          <p:cNvSpPr>
            <a:spLocks noGrp="1"/>
          </p:cNvSpPr>
          <p:nvPr/>
        </p:nvSpPr>
        <p:spPr>
          <a:xfrm>
            <a:off x="781050" y="36099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How to read the result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C1421-D2B7-4071-BD6F-96D0447F86DE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490537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RMSE penalizes large misses and is expressed in bikes per hour. MAE is the average absolute error. R² indicates 92.34% of test-set variance explained.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AA02A9-EB9C-4CD6-B880-BCE45BB6FC24}"/>
              </a:ext>
            </a:extLst>
          </p:cNvPr>
          <p:cNvSpPr>
            <a:spLocks noGrp="1"/>
          </p:cNvSpPr>
          <p:nvPr/>
        </p:nvSpPr>
        <p:spPr>
          <a:xfrm>
            <a:off x="6191250" y="3629025"/>
            <a:ext cx="19050" cy="16192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92BCF8-6840-4AF9-A9D7-7D18414C534B}"/>
              </a:ext>
            </a:extLst>
          </p:cNvPr>
          <p:cNvSpPr>
            <a:spLocks noGrp="1"/>
          </p:cNvSpPr>
          <p:nvPr/>
        </p:nvSpPr>
        <p:spPr>
          <a:xfrm>
            <a:off x="6657975" y="36099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Interpret MAPE carefully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E399F-13B8-4906-B361-55ECB0FDA6AB}"/>
              </a:ext>
            </a:extLst>
          </p:cNvPr>
          <p:cNvSpPr>
            <a:spLocks noGrp="1"/>
          </p:cNvSpPr>
          <p:nvPr/>
        </p:nvSpPr>
        <p:spPr>
          <a:xfrm>
            <a:off x="6657975" y="4095750"/>
            <a:ext cx="4476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45.19% MAPE excludes zero targets but remains sensitive to very small rental counts. It can look high even when RMSE and R² are strong.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34117-0D4B-446A-888A-7106CAB6EA55}"/>
              </a:ext>
            </a:extLst>
          </p:cNvPr>
          <p:cNvSpPr>
            <a:spLocks noGrp="1"/>
          </p:cNvSpPr>
          <p:nvPr/>
        </p:nvSpPr>
        <p:spPr>
          <a:xfrm>
            <a:off x="781050" y="56197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Final all-model output: Test MSE 3,784.63; Train RMSE 26.06; Test RMSE gap 35.46.</a:t>
            </a:r>
          </a:p>
        </p:txBody>
      </p:sp>
    </p:spTree>
    <p:extLst>
      <p:ext uri="{BB962C8B-B14F-4D97-AF65-F5344CB8AC3E}">
        <p14:creationId xmlns:p14="http://schemas.microsoft.com/office/powerpoint/2010/main" val="94366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E6540D4-B39F-48B1-9712-5FB68D0847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Deployment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FBD27C-A27A-4632-BCF9-5326F0A188A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C835B-E590-474D-9F74-1D2936E2027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1A33BA-E6B3-4F25-8309-89C05967B134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7907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114462-907E-4C5C-9389-8C1300881302}"/>
              </a:ext>
            </a:extLst>
          </p:cNvPr>
          <p:cNvSpPr>
            <a:spLocks noGrp="1"/>
          </p:cNvSpPr>
          <p:nvPr/>
        </p:nvSpPr>
        <p:spPr>
          <a:xfrm>
            <a:off x="828675" y="229552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C2C8B-6C5F-4A91-8900-A2C4022085E3}"/>
              </a:ext>
            </a:extLst>
          </p:cNvPr>
          <p:cNvSpPr>
            <a:spLocks noGrp="1"/>
          </p:cNvSpPr>
          <p:nvPr/>
        </p:nvSpPr>
        <p:spPr>
          <a:xfrm>
            <a:off x="828675" y="2667000"/>
            <a:ext cx="1504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Select forecast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8F0AB-EFF8-4334-9031-467F052936D3}"/>
              </a:ext>
            </a:extLst>
          </p:cNvPr>
          <p:cNvSpPr>
            <a:spLocks noGrp="1"/>
          </p:cNvSpPr>
          <p:nvPr/>
        </p:nvSpPr>
        <p:spPr>
          <a:xfrm>
            <a:off x="2543175" y="2667000"/>
            <a:ext cx="257175" cy="28575"/>
          </a:xfrm>
          <a:prstGeom prst="rect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2D2A5F7-0D91-4956-BFF5-4614FE1950BE}"/>
              </a:ext>
            </a:extLst>
          </p:cNvPr>
          <p:cNvSpPr>
            <a:spLocks noGrp="1"/>
          </p:cNvSpPr>
          <p:nvPr/>
        </p:nvSpPr>
        <p:spPr>
          <a:xfrm>
            <a:off x="2714625" y="2600325"/>
            <a:ext cx="133350" cy="161925"/>
          </a:xfrm>
          <a:prstGeom prst="rightArrow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598386-6EFA-4928-8582-90A9B57EFBE0}"/>
              </a:ext>
            </a:extLst>
          </p:cNvPr>
          <p:cNvSpPr>
            <a:spLocks noGrp="1"/>
          </p:cNvSpPr>
          <p:nvPr/>
        </p:nvSpPr>
        <p:spPr>
          <a:xfrm>
            <a:off x="2971800" y="2105025"/>
            <a:ext cx="17907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5708-D262-4F4A-8AB8-DBD3569376E2}"/>
              </a:ext>
            </a:extLst>
          </p:cNvPr>
          <p:cNvSpPr>
            <a:spLocks noGrp="1"/>
          </p:cNvSpPr>
          <p:nvPr/>
        </p:nvSpPr>
        <p:spPr>
          <a:xfrm>
            <a:off x="3114675" y="229552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Streamlit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A9734A-AD43-4F15-B925-306B5DD1E7E0}"/>
              </a:ext>
            </a:extLst>
          </p:cNvPr>
          <p:cNvSpPr>
            <a:spLocks noGrp="1"/>
          </p:cNvSpPr>
          <p:nvPr/>
        </p:nvSpPr>
        <p:spPr>
          <a:xfrm>
            <a:off x="3114675" y="2667000"/>
            <a:ext cx="1504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Input controls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7977E-300E-4EE9-929B-0BE76262F188}"/>
              </a:ext>
            </a:extLst>
          </p:cNvPr>
          <p:cNvSpPr>
            <a:spLocks noGrp="1"/>
          </p:cNvSpPr>
          <p:nvPr/>
        </p:nvSpPr>
        <p:spPr>
          <a:xfrm>
            <a:off x="4829175" y="2667000"/>
            <a:ext cx="257175" cy="28575"/>
          </a:xfrm>
          <a:prstGeom prst="rect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C525A8B-170A-4285-9610-BD20550FB14F}"/>
              </a:ext>
            </a:extLst>
          </p:cNvPr>
          <p:cNvSpPr>
            <a:spLocks noGrp="1"/>
          </p:cNvSpPr>
          <p:nvPr/>
        </p:nvSpPr>
        <p:spPr>
          <a:xfrm>
            <a:off x="5000625" y="2600325"/>
            <a:ext cx="133350" cy="161925"/>
          </a:xfrm>
          <a:prstGeom prst="rightArrow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B0E49E-BCAB-4D7A-91B8-310DFFBF255A}"/>
              </a:ext>
            </a:extLst>
          </p:cNvPr>
          <p:cNvSpPr>
            <a:spLocks noGrp="1"/>
          </p:cNvSpPr>
          <p:nvPr/>
        </p:nvSpPr>
        <p:spPr>
          <a:xfrm>
            <a:off x="5257800" y="2105025"/>
            <a:ext cx="17907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CE57CB-47F0-4793-8663-CD22145BB5EB}"/>
              </a:ext>
            </a:extLst>
          </p:cNvPr>
          <p:cNvSpPr>
            <a:spLocks noGrp="1"/>
          </p:cNvSpPr>
          <p:nvPr/>
        </p:nvSpPr>
        <p:spPr>
          <a:xfrm>
            <a:off x="5400675" y="229552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Feature builder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D04E1E-BDED-44B4-8AD1-35961509BF9A}"/>
              </a:ext>
            </a:extLst>
          </p:cNvPr>
          <p:cNvSpPr>
            <a:spLocks noGrp="1"/>
          </p:cNvSpPr>
          <p:nvPr/>
        </p:nvSpPr>
        <p:spPr>
          <a:xfrm>
            <a:off x="5400675" y="2667000"/>
            <a:ext cx="1504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Align expected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model columns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A657C3-BF85-476E-B039-BCEF1620083F}"/>
              </a:ext>
            </a:extLst>
          </p:cNvPr>
          <p:cNvSpPr>
            <a:spLocks noGrp="1"/>
          </p:cNvSpPr>
          <p:nvPr/>
        </p:nvSpPr>
        <p:spPr>
          <a:xfrm>
            <a:off x="7115175" y="2667000"/>
            <a:ext cx="257175" cy="28575"/>
          </a:xfrm>
          <a:prstGeom prst="rect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ACBC422-3D7C-4E65-B472-B6703E9E5981}"/>
              </a:ext>
            </a:extLst>
          </p:cNvPr>
          <p:cNvSpPr>
            <a:spLocks noGrp="1"/>
          </p:cNvSpPr>
          <p:nvPr/>
        </p:nvSpPr>
        <p:spPr>
          <a:xfrm>
            <a:off x="7286625" y="2600325"/>
            <a:ext cx="133350" cy="161925"/>
          </a:xfrm>
          <a:prstGeom prst="rightArrow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D2524E-A9C4-4535-AC7B-2A73974653D7}"/>
              </a:ext>
            </a:extLst>
          </p:cNvPr>
          <p:cNvSpPr>
            <a:spLocks noGrp="1"/>
          </p:cNvSpPr>
          <p:nvPr/>
        </p:nvSpPr>
        <p:spPr>
          <a:xfrm>
            <a:off x="7543800" y="2105025"/>
            <a:ext cx="1790700" cy="1162050"/>
          </a:xfrm>
          <a:prstGeom prst="rect">
            <a:avLst/>
          </a:prstGeom>
          <a:solidFill>
            <a:srgbClr val="104A44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76628-2BFF-4761-80BF-DAFACA8C7BB1}"/>
              </a:ext>
            </a:extLst>
          </p:cNvPr>
          <p:cNvSpPr>
            <a:spLocks noGrp="1"/>
          </p:cNvSpPr>
          <p:nvPr/>
        </p:nvSpPr>
        <p:spPr>
          <a:xfrm>
            <a:off x="7686675" y="229552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A45F4B-D09D-4FF6-8FED-3E1C00F2BACC}"/>
              </a:ext>
            </a:extLst>
          </p:cNvPr>
          <p:cNvSpPr>
            <a:spLocks noGrp="1"/>
          </p:cNvSpPr>
          <p:nvPr/>
        </p:nvSpPr>
        <p:spPr>
          <a:xfrm>
            <a:off x="7686675" y="2667000"/>
            <a:ext cx="1504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4DE"/>
                </a:solidFill>
                <a:latin typeface="Arial"/>
                <a:ea typeface="Arial"/>
                <a:cs typeface="Arial"/>
              </a:rPr>
              <a:t>Preprocessing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D5E4D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4DE"/>
                </a:solidFill>
                <a:latin typeface="Arial"/>
                <a:ea typeface="Arial"/>
                <a:cs typeface="Arial"/>
              </a:rPr>
              <a:t>+ XGBoost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313569-AD3E-45B1-9EC5-646CC108E5F4}"/>
              </a:ext>
            </a:extLst>
          </p:cNvPr>
          <p:cNvSpPr>
            <a:spLocks noGrp="1"/>
          </p:cNvSpPr>
          <p:nvPr/>
        </p:nvSpPr>
        <p:spPr>
          <a:xfrm>
            <a:off x="9401175" y="2667000"/>
            <a:ext cx="257175" cy="28575"/>
          </a:xfrm>
          <a:prstGeom prst="rect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50B3128-A88A-4802-A318-FEECCBAE6CAC}"/>
              </a:ext>
            </a:extLst>
          </p:cNvPr>
          <p:cNvSpPr>
            <a:spLocks noGrp="1"/>
          </p:cNvSpPr>
          <p:nvPr/>
        </p:nvSpPr>
        <p:spPr>
          <a:xfrm>
            <a:off x="9572625" y="2600325"/>
            <a:ext cx="133350" cy="161925"/>
          </a:xfrm>
          <a:prstGeom prst="rightArrow">
            <a:avLst/>
          </a:prstGeom>
          <a:solidFill>
            <a:srgbClr val="A7B2AD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BD6483-30B4-4EEF-9DDC-E0E5872B33D2}"/>
              </a:ext>
            </a:extLst>
          </p:cNvPr>
          <p:cNvSpPr>
            <a:spLocks noGrp="1"/>
          </p:cNvSpPr>
          <p:nvPr/>
        </p:nvSpPr>
        <p:spPr>
          <a:xfrm>
            <a:off x="9829800" y="2105025"/>
            <a:ext cx="1790700" cy="1162050"/>
          </a:xfrm>
          <a:prstGeom prst="rect">
            <a:avLst/>
          </a:prstGeom>
          <a:solidFill>
            <a:srgbClr val="DDEDE7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61D5B3-8E61-4665-8E05-44E732011D9F}"/>
              </a:ext>
            </a:extLst>
          </p:cNvPr>
          <p:cNvSpPr>
            <a:spLocks noGrp="1"/>
          </p:cNvSpPr>
          <p:nvPr/>
        </p:nvSpPr>
        <p:spPr>
          <a:xfrm>
            <a:off x="9972675" y="229552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3CA67-35F5-4A4E-9C63-1FE3A61EC9E6}"/>
              </a:ext>
            </a:extLst>
          </p:cNvPr>
          <p:cNvSpPr>
            <a:spLocks noGrp="1"/>
          </p:cNvSpPr>
          <p:nvPr/>
        </p:nvSpPr>
        <p:spPr>
          <a:xfrm>
            <a:off x="9972675" y="2667000"/>
            <a:ext cx="1504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Prediction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+ log entry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4014EB-9AEA-46E8-963F-BE2345E9A35D}"/>
              </a:ext>
            </a:extLst>
          </p:cNvPr>
          <p:cNvSpPr>
            <a:spLocks noGrp="1"/>
          </p:cNvSpPr>
          <p:nvPr/>
        </p:nvSpPr>
        <p:spPr>
          <a:xfrm>
            <a:off x="800100" y="39338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Files shipped with the app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ECEF6E-E806-414E-9084-0015EE778D3F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357187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bike_demand_model.pkl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dashboard_data.csv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model_metadata.json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prediction_log.csv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68673E-39D9-4E09-8144-3B1009D57F2D}"/>
              </a:ext>
            </a:extLst>
          </p:cNvPr>
          <p:cNvSpPr>
            <a:spLocks noGrp="1"/>
          </p:cNvSpPr>
          <p:nvPr/>
        </p:nvSpPr>
        <p:spPr>
          <a:xfrm>
            <a:off x="4829175" y="3933825"/>
            <a:ext cx="19050" cy="18097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0EFD42-7F72-4E67-A669-9D315BF418CD}"/>
              </a:ext>
            </a:extLst>
          </p:cNvPr>
          <p:cNvSpPr>
            <a:spLocks noGrp="1"/>
          </p:cNvSpPr>
          <p:nvPr/>
        </p:nvSpPr>
        <p:spPr>
          <a:xfrm>
            <a:off x="5276850" y="39338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Interface pages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7131DA-3C40-42C3-AC57-ABE0D6D7E8FB}"/>
              </a:ext>
            </a:extLst>
          </p:cNvPr>
          <p:cNvSpPr>
            <a:spLocks noGrp="1"/>
          </p:cNvSpPr>
          <p:nvPr/>
        </p:nvSpPr>
        <p:spPr>
          <a:xfrm>
            <a:off x="5276850" y="4438650"/>
            <a:ext cx="3714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Executive Dashboard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Interactive prediction form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Demand analytics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Model Monitoring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30840D-0F47-48E5-9FEC-40A70C44CA94}"/>
              </a:ext>
            </a:extLst>
          </p:cNvPr>
          <p:cNvSpPr>
            <a:spLocks noGrp="1"/>
          </p:cNvSpPr>
          <p:nvPr/>
        </p:nvSpPr>
        <p:spPr>
          <a:xfrm>
            <a:off x="9115425" y="3933825"/>
            <a:ext cx="19050" cy="18097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DB7ABE-A13D-4641-A77D-DB899847057B}"/>
              </a:ext>
            </a:extLst>
          </p:cNvPr>
          <p:cNvSpPr>
            <a:spLocks noGrp="1"/>
          </p:cNvSpPr>
          <p:nvPr/>
        </p:nvSpPr>
        <p:spPr>
          <a:xfrm>
            <a:off x="9544050" y="39338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Runtime dependency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40D2B6-CF3E-4107-9B6F-699CD3C60C3A}"/>
              </a:ext>
            </a:extLst>
          </p:cNvPr>
          <p:cNvSpPr>
            <a:spLocks noGrp="1"/>
          </p:cNvSpPr>
          <p:nvPr/>
        </p:nvSpPr>
        <p:spPr>
          <a:xfrm>
            <a:off x="9544050" y="4610100"/>
            <a:ext cx="20478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serialized pipeline needs the same estimator libraries used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597504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FEFFEA-870B-4FDD-A719-7F60272D111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Streamlit dashboard and monitoring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CAC6D-9749-40E4-A15E-2217B0CBC61C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70EB-285D-4C2C-8309-B47E8225530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B55E8-10F8-4D0F-8D2B-0578CA8DF01E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User-facing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132EF-DEFB-4874-9A7B-7C1930132461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4667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Executive view with rental history and summary analytics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Input form for date, hour, season, weather and normalized conditions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Historical demand analyses split across dashboard tabs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47301-1E8A-4EE7-AA55-941D40343107}"/>
              </a:ext>
            </a:extLst>
          </p:cNvPr>
          <p:cNvSpPr>
            <a:spLocks noGrp="1"/>
          </p:cNvSpPr>
          <p:nvPr/>
        </p:nvSpPr>
        <p:spPr>
          <a:xfrm>
            <a:off x="5895975" y="1476375"/>
            <a:ext cx="19050" cy="37528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54941C-FBB5-4008-9BBA-7E44FE1F9D0E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Monitoring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4736A7-70A5-4FF6-8490-E468145AA5E0}"/>
              </a:ext>
            </a:extLst>
          </p:cNvPr>
          <p:cNvSpPr>
            <a:spLocks noGrp="1"/>
          </p:cNvSpPr>
          <p:nvPr/>
        </p:nvSpPr>
        <p:spPr>
          <a:xfrm>
            <a:off x="6381750" y="2009775"/>
            <a:ext cx="46672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Each prediction is appended to prediction_log.csv with a timestamp and model inputs. The monitoring page reads prediction history and can compare predicted with actual counts when actual labels are available.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7F357-60CC-4C6A-8527-E7CCFBB27DF6}"/>
              </a:ext>
            </a:extLst>
          </p:cNvPr>
          <p:cNvSpPr>
            <a:spLocks noGrp="1"/>
          </p:cNvSpPr>
          <p:nvPr/>
        </p:nvSpPr>
        <p:spPr>
          <a:xfrm>
            <a:off x="6381750" y="36671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Operational 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81338-AC1A-4053-9441-8B7C7AE31C25}"/>
              </a:ext>
            </a:extLst>
          </p:cNvPr>
          <p:cNvSpPr>
            <a:spLocks noGrp="1"/>
          </p:cNvSpPr>
          <p:nvPr/>
        </p:nvSpPr>
        <p:spPr>
          <a:xfrm>
            <a:off x="6381750" y="4105275"/>
            <a:ext cx="4667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Monitor MAE / RMSE once outcomes arrive, along with feature ranges, missing-value rates and prediction volume. Retraining is a future operating step, not a measured result in the notebook.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8082FC-855B-4AFA-A7B1-EC476CC14D41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429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The provided code creates a monitoring page and log. It does not establish production traffic, realized forecast quality or an automated retraining schedule.</a:t>
            </a:r>
          </a:p>
        </p:txBody>
      </p:sp>
    </p:spTree>
    <p:extLst>
      <p:ext uri="{BB962C8B-B14F-4D97-AF65-F5344CB8AC3E}">
        <p14:creationId xmlns:p14="http://schemas.microsoft.com/office/powerpoint/2010/main" val="1352935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79C40FE-E290-400C-860B-AEFE2E029C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Streamlit deployment issue and fix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9C86AD-872C-4AC5-BD1E-22F55278FFF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452CB4-A5CC-496E-AB91-9B83F365372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30BBC8-A8DD-4E89-87DC-95DA00023100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Observed failure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53A00-5C5F-4111-8FF7-619ED6EEAC73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457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pickle.load() failed with ModuleNotFoundError: No module named xgboost.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55A041-B32C-4622-A77B-E1A174AB8FC5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457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cloud log also showed scikit-learn 1.9.1 loading a model created with 1.7.2, plus Python 3.14.9 in the runtime.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DF9DB-1555-4003-B536-EF2A147FC4FE}"/>
              </a:ext>
            </a:extLst>
          </p:cNvPr>
          <p:cNvSpPr>
            <a:spLocks noGrp="1"/>
          </p:cNvSpPr>
          <p:nvPr/>
        </p:nvSpPr>
        <p:spPr>
          <a:xfrm>
            <a:off x="5886450" y="1476375"/>
            <a:ext cx="19050" cy="37909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AB838-6348-4483-A891-BE2BD07DAED2}"/>
              </a:ext>
            </a:extLst>
          </p:cNvPr>
          <p:cNvSpPr>
            <a:spLocks noGrp="1"/>
          </p:cNvSpPr>
          <p:nvPr/>
        </p:nvSpPr>
        <p:spPr>
          <a:xfrm>
            <a:off x="6372225" y="1485900"/>
            <a:ext cx="4429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Recommended correction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1653E-E13C-46C3-ADFB-61DFBA5A895D}"/>
              </a:ext>
            </a:extLst>
          </p:cNvPr>
          <p:cNvSpPr>
            <a:spLocks noGrp="1"/>
          </p:cNvSpPr>
          <p:nvPr/>
        </p:nvSpPr>
        <p:spPr>
          <a:xfrm>
            <a:off x="6372225" y="2009775"/>
            <a:ext cx="471487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Add XGBoost to requirements.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Pin scikit-learn to 1.7.2 to match training.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Use Python 3.13 for a reproducible deployment environment.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Redeploy and verify the model loads.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32714F-2BDD-4B7B-B64B-C8FDDBD59D16}"/>
              </a:ext>
            </a:extLst>
          </p:cNvPr>
          <p:cNvSpPr>
            <a:spLocks noGrp="1"/>
          </p:cNvSpPr>
          <p:nvPr/>
        </p:nvSpPr>
        <p:spPr>
          <a:xfrm>
            <a:off x="781050" y="4619625"/>
            <a:ext cx="10439400" cy="19050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9D35D-3DA7-4630-865A-E65BCEB2A50A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10439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The referenced conversation documented the recommended fix. It did not confirm that the cloud app was successfully redeployed.</a:t>
            </a:r>
          </a:p>
        </p:txBody>
      </p:sp>
    </p:spTree>
    <p:extLst>
      <p:ext uri="{BB962C8B-B14F-4D97-AF65-F5344CB8AC3E}">
        <p14:creationId xmlns:p14="http://schemas.microsoft.com/office/powerpoint/2010/main" val="129117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19FC36-CF3C-45CC-ACDF-0BACFE3A621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Project conclusions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956335-82B4-45D0-9DD5-53E4F879A4A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F804CC-899F-45F5-B9DE-BBDB9DA7588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075DE8-5C74-47C6-9469-775198701AB0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334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A complete demand-prediction workflow is in place: data checks, exploratory analysis, domain-driven features, chronological validation, model benchmarking and a Streamlit interface.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3808B-0A42-4FB7-ABE7-C5E45538EA53}"/>
              </a:ext>
            </a:extLst>
          </p:cNvPr>
          <p:cNvSpPr>
            <a:spLocks noGrp="1"/>
          </p:cNvSpPr>
          <p:nvPr/>
        </p:nvSpPr>
        <p:spPr>
          <a:xfrm>
            <a:off x="781050" y="3057525"/>
            <a:ext cx="76200" cy="1905000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79646-B86D-4A0E-9B10-79EDEED5A363}"/>
              </a:ext>
            </a:extLst>
          </p:cNvPr>
          <p:cNvSpPr>
            <a:spLocks noGrp="1"/>
          </p:cNvSpPr>
          <p:nvPr/>
        </p:nvSpPr>
        <p:spPr>
          <a:xfrm>
            <a:off x="1057275" y="30575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Best reported all-model 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743BF6-1329-4D69-927F-880A06AB4998}"/>
              </a:ext>
            </a:extLst>
          </p:cNvPr>
          <p:cNvSpPr>
            <a:spLocks noGrp="1"/>
          </p:cNvSpPr>
          <p:nvPr/>
        </p:nvSpPr>
        <p:spPr>
          <a:xfrm>
            <a:off x="1057275" y="356235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Tuned XGBoost</a:t>
            </a:r>
          </a:p>
          <a:p>
            <a:pPr algn="l">
              <a:lnSpc>
                <a:spcPct val="108000"/>
              </a:lnSpc>
              <a:buNone/>
              <a:defRPr sz="20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Test RMSE 61.52   •   MAE 39.57   •   R² 0.9234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3808D-793B-4B5B-87EC-E4B0A17E1FFF}"/>
              </a:ext>
            </a:extLst>
          </p:cNvPr>
          <p:cNvSpPr>
            <a:spLocks noGrp="1"/>
          </p:cNvSpPr>
          <p:nvPr/>
        </p:nvSpPr>
        <p:spPr>
          <a:xfrm>
            <a:off x="1057275" y="4505325"/>
            <a:ext cx="971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794E"/>
                </a:solidFill>
                <a:latin typeface="Arial"/>
                <a:ea typeface="Arial"/>
                <a:cs typeface="Arial"/>
              </a:rPr>
              <a:t>Interpretation depends on correcting the date parse and rerunning the holdout. The model score is a notebook result, not a production guarantee.</a:t>
            </a:r>
          </a:p>
        </p:txBody>
      </p:sp>
    </p:spTree>
    <p:extLst>
      <p:ext uri="{BB962C8B-B14F-4D97-AF65-F5344CB8AC3E}">
        <p14:creationId xmlns:p14="http://schemas.microsoft.com/office/powerpoint/2010/main" val="1475967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C3CF19-B42D-44DB-886D-94036813E97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71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D2B"/>
                </a:solidFill>
                <a:latin typeface="Arial"/>
                <a:ea typeface="Arial"/>
                <a:cs typeface="Arial"/>
              </a:rPr>
              <a:t>Limitations and future enhancements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B5FE9F-D087-4E2B-8681-85F92D47F06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" cy="47625"/>
          </a:xfrm>
          <a:prstGeom prst="rect">
            <a:avLst/>
          </a:prstGeom>
          <a:solidFill>
            <a:srgbClr val="B3D86D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9569F-4DF2-4FD7-81AA-D472EF3CA99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0D95CB-8553-4FD6-AF8F-3BD82033837A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E879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4E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5580BE-B789-4151-A15D-6436F95AA6CE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7625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Date parsing created 10,501 missing timestamps; forward filling can distort resampling and engineered calendar fields.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The test period is about one week and the notebook split boundary repeats a timestamp.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Model selection used reported test results, which can make the selected score optimistic.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MAPE is sensitive to low-demand hours.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No station geography or station-level availability fields are present.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7B4A6B-0AD9-4D87-B7FB-4E19972BF4F9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19050" cy="4048125"/>
          </a:xfrm>
          <a:prstGeom prst="rect">
            <a:avLst/>
          </a:prstGeom>
          <a:solidFill>
            <a:srgbClr val="D7DFD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E5E650-8DD2-489F-8351-972CA53D89B7}"/>
              </a:ext>
            </a:extLst>
          </p:cNvPr>
          <p:cNvSpPr>
            <a:spLocks noGrp="1"/>
          </p:cNvSpPr>
          <p:nvPr/>
        </p:nvSpPr>
        <p:spPr>
          <a:xfrm>
            <a:off x="6400800" y="14763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C71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7165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4D5852-3D9B-4B7F-A9D6-7BD06C9B49CF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47625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Parse dates with the source format and verify unique, strictly increasing hourly timestamps.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Rerun rolling-origin CV and keep a future season as an untouched final test.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Report per-hour / per-weather errors and prediction intervals.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Add station, availability, event and richer weather inputs if collected.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3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D2B"/>
                </a:solidFill>
                <a:latin typeface="Arial"/>
                <a:ea typeface="Arial"/>
                <a:cs typeface="Arial"/>
              </a:rPr>
              <a:t>Set monitoring thresholds and a versioned retraining process.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491C1A-E5BC-4300-A139-587ED6EC37C3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1042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5062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25E"/>
                </a:solidFill>
                <a:latin typeface="Arial"/>
                <a:ea typeface="Arial"/>
                <a:cs typeface="Arial"/>
              </a:rPr>
              <a:t>These improvements are proposed next steps; they are not completed project results.</a:t>
            </a:r>
          </a:p>
        </p:txBody>
      </p:sp>
    </p:spTree>
    <p:extLst>
      <p:ext uri="{BB962C8B-B14F-4D97-AF65-F5344CB8AC3E}">
        <p14:creationId xmlns:p14="http://schemas.microsoft.com/office/powerpoint/2010/main" val="19471592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2765</Words>
  <Application>Microsoft Office PowerPoint</Application>
  <DocSecurity>0</DocSecurity>
  <PresentationFormat>Widescreen</PresentationFormat>
  <Paragraphs>347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roopesh Dandagala</cp:lastModifiedBy>
  <cp:revision>1</cp:revision>
  <dcterms:created xsi:type="dcterms:W3CDTF">2026-10-27T06:54:03Z</dcterms:created>
  <dcterms:modified xsi:type="dcterms:W3CDTF">2026-10-27T07:04:02Z</dcterms:modified>
</cp:coreProperties>
</file>